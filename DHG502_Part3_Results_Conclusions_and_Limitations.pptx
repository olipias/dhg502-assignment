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1"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7D2065-4AAB-4112-A614-A777BD858A6F}" type="datetimeFigureOut">
              <a:rPr lang="zh-CN" altLang="en-US" smtClean="0"/>
              <a:t>2026/10/9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A231F-4D8B-4A0F-A501-73B1AC6AE6D3}" type="slidenum">
              <a:rPr lang="zh-CN" altLang="en-US" smtClean="0"/>
              <a:t>‹#›</a:t>
            </a:fld>
            <a:endParaRPr lang="zh-CN" altLang="en-US"/>
          </a:p>
        </p:txBody>
      </p:sp>
    </p:spTree>
    <p:extLst>
      <p:ext uri="{BB962C8B-B14F-4D97-AF65-F5344CB8AC3E}">
        <p14:creationId xmlns:p14="http://schemas.microsoft.com/office/powerpoint/2010/main" val="161296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【Correction idea · 0:15-0:40】The setup is simple. We give the LLM two things: the original handwritten image, plus a rough draft transcription - produced either by another LLM or by Transkribus. It then returns a corrected transcript. The key design rule: the corrector is never the model that produced the draft. And note the two ways of counting errors: strict counts punctuation, capitalization and historical spelling; modified excludes them to measure pure reading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 6-7 · 0:40-1:15】Tables 6 and 7 show strict error rates. Uncorrected, the best model is at 7.3% CER / 15.9% WER, and Gemini at 8.5 / 18.8. After correction, the best pairs bring it down to 5.7% CER and 13.8% WER - on average a 13% CER and 10% WER improvement. But look at the grey rows: self-correction barely moves - and GPT-4o actually declines 1 to 2% on its own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 8-9 · 1:15-1:45】With modified metrics the pattern is even stronger. The best pairs reach 4.1% CER and 7.0% WER - that is over 96% character accuracy and 93% word accuracy, in the same range as non-expert human transcribers. And again: the grey self-correction rows show almost no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 1:45-2:10】Why does self-correction fail? The model relies on the same weights that produced the mistakes. Its errors are not anomalies in its probability distribution - they actually look like probable outputs. A different model has different weights and different blind spots, so it can see what the first model cannot. That is why heterogeneous pairs improve 15-20% on strict metrics, while self-correction changes almost 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10 · 2:10-2:45】And the correction works even better on traditional HTR output. Table 10: Claude correcting Transkribus Titan cuts modified CER to 1.8% and WER to 3.5%. Across all pairs, character accuracy reaches 97-99% and word accuracy 91-96%, close to experienced human transcribers. In other words: an LLM can serve as a post-processing layer that turns unusable HTR output into usable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11 · 2:45-3:05】The cost and time are trivial. Per page: Claude costs one cent and takes 1.52 seconds; GPT-4o six tenths of a cent in 1.22 seconds; Gemini half a cent in 0.65 seconds. All fifty pages are corrected in about a minute for 26 to 53 cents. This step is essentially free.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 3:05-4:00】To conclude. Out of the box, LLMs reach 93-94% character and 86-91% word accuracy - already better than specialized HTR. With heterogeneous correction, CER falls as low as 1.8-6% and WER 3.5-14% - non-expert human level. All of this fifty times faster, at roughly one-fiftieth the cost, with no fine-tuning, no pre-processing, and no technical barrier. For historians, this means private and small collections can now be digitized at scale, enabling full-text search and semantic analysis.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1 · 4:00-4:40】We should also be clear about the limits. First, data and scope. The sample is small and narrow: 50 pages, 9,911 words, 33 hands, all English - it tells us nothing about other languages, periods, or scripts. Second, the test set is deliberately not public, so results cannot be independently verified. Third, only commercial closed-source models were tested - no open-source alternatives like Llama. Fourth, everything depends on paid APIs - network, keys, privacy, vendor lock-in. And fifth, complex layouts - tables, columns, marginalia - were never systematically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2 · 4:40-5:20】Second, evaluation and interpretation. CER and WER only measure edit distance - they miss layout structure, reading order, hallucinated text, and misplaced marginalia. LLMs also normalize spelling, punctuation, and capitalization, which can damage historical authenticity. Self-correction does not work, so heterogeneous pairs are required - more complexity and cost. Gemini's recitation refusals show the models have seen public collections in training, so accuracy on public material may be inflated. And even the human ground truth contains errors - the benchmark itself is not absolute.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 5:20-5:30】So, in one line: fast, cheap and near-human - on a small English sample, with an unverifiable ground truth, and not yet ready for complex documents. Thank you -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opening · 0:00-0:15】Thanks! I'll take over for Part 3. I'll cover three things: first the LLM correction experiments and Tables 6 to 11, then the conclusions, and finally the limitations - which is where the interesting questions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ECF61D-D85B-0E21-5950-2600F61E2F3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B22FCE8-F154-9B57-2ADD-DBA3B02796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47B7FA5-A17E-ED4E-66A8-E48274A9EF74}"/>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A1FCFECF-2CE5-3C67-2C46-0D14D7BE57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7739A6-8E3E-17F6-ACB4-535E8F55C474}"/>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409437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40F38F-60FE-BF04-418D-22EB700B72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7E9ECFE-3B37-51FA-A6BA-02063A3165A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6CA15B-1A2E-D4F1-AE81-7252E4E006F0}"/>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DB93EEA2-BFB4-82EE-F2E6-1E5464A709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462C1D-1B0C-3819-693B-23E73E0C5D1F}"/>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7046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AA018-A87C-2B97-7512-F35F2B3B3FB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4D7E000-03BA-A66C-291B-CB8152A9B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3FD94F-D4C0-CA14-C127-40AB9181A600}"/>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B703BA73-5D5D-8637-0E21-792DC1F567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411556-A954-985A-1189-6ED266C8C8A9}"/>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3787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53E659-C1F4-657F-6490-724C355F758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FF23A1-3733-5FFF-30D8-DF68F8FD05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5DE1464-921F-EC23-8A48-309AA186DEC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49056F0-73B6-636D-083C-4EDDDB0DF91C}"/>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76E3A567-AB96-12B5-EC7D-E680E5301C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6ECC76-201F-9ED1-EA96-341108883454}"/>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33638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DBE3D-F348-8BFC-A41A-AE43DD239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7C7487A-0223-EF47-E726-D76B6140E9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B65514C-ACE1-F028-16EA-794D7E0499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9683DEF-5029-E07F-1336-3B643B0CB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EC96933-272A-3C05-83F0-408EB47B18F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80342F-0AD9-900F-ACE6-968863954583}"/>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8" name="页脚占位符 7">
            <a:extLst>
              <a:ext uri="{FF2B5EF4-FFF2-40B4-BE49-F238E27FC236}">
                <a16:creationId xmlns:a16="http://schemas.microsoft.com/office/drawing/2014/main" id="{09B503E6-9794-0D64-A391-17D8AED9A90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31BA6AC-F28C-C8FE-8209-BF9634416E5C}"/>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1417478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F6F79E-E3AC-833C-009F-C52B3ED593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EB4519B-1A47-B76A-2602-DFDFFEE64637}"/>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4" name="页脚占位符 3">
            <a:extLst>
              <a:ext uri="{FF2B5EF4-FFF2-40B4-BE49-F238E27FC236}">
                <a16:creationId xmlns:a16="http://schemas.microsoft.com/office/drawing/2014/main" id="{20195810-2018-FDD4-A9B2-47F917CB5A8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D0AB936-4BFF-E1B5-9FD1-16F417CCF4CD}"/>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84287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58ECC21-B0AC-DBBD-F240-AD68084F9F34}"/>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3" name="页脚占位符 2">
            <a:extLst>
              <a:ext uri="{FF2B5EF4-FFF2-40B4-BE49-F238E27FC236}">
                <a16:creationId xmlns:a16="http://schemas.microsoft.com/office/drawing/2014/main" id="{5ABA7802-24A8-6DB7-7251-E41D335466F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B1633F-9D8D-5D82-87D3-6CC1BE0EFC58}"/>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62874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6E425-956F-72FA-D2B6-343D5FB404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87C415-E509-2910-9CD6-CDAD1E6D2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233241D-0FF4-DB04-5DB5-F37D82E2B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C2FFBC9-910F-89F2-6E5F-0FA182174E1D}"/>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6B4C3031-82F9-3834-14FD-BC455FD1BD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250CE0-314A-3E3A-B5D1-DD0CCDACA0E9}"/>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85145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30E9-D084-B389-5ACF-F1365EA96A6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76E9CB9-5385-9A49-B9A6-32B5EFF676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8781D06-6890-63C2-7A9C-FEFCCC828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64C24C-24AA-7EFB-29A7-980A04C80FDE}"/>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8D5E95CF-D8CB-1BA7-D2D8-82909F582B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F6CB18-1118-AC1A-6B34-7CA5738C2993}"/>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1110359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CE8B6-840F-5A91-81E5-6F408360EDF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C5833E6-C9D2-BB9F-B21D-8C47FDD3555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7AD6CB-A84F-AB54-365E-7C4E4610147E}"/>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C81EC323-3D7A-3AFE-6279-7F55E204C9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F83D3A-3E0B-5A55-F031-32A5FEA9B116}"/>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924233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B471F70-CF8E-5161-6B12-5B278ACFD9B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0D1FF2D-B1F4-5AC9-4363-959DC5C35D5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CE3C1B-BA44-257B-FBCA-FF8CFA483943}"/>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2F3CDCBB-1F3A-D20A-079F-E7DD046BA6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8DEBF4-D34B-AD09-E377-70B343DCABC6}"/>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085842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AD78E8B-D1DB-53E0-3132-FC7156438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21FC020-52E6-69D3-B544-F7895F6508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004D8E-191C-8138-04F1-B570EE632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06A7AF7F-6599-FE9E-A065-21C238E36A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4798FAF-FEE0-3527-C667-E0C652269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87875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2801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952" y="1901952"/>
            <a:ext cx="73152" cy="317296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984248"/>
            <a:ext cx="9902952" cy="219456"/>
          </a:xfrm>
          <a:prstGeom prst="rect">
            <a:avLst/>
          </a:prstGeom>
          <a:noFill/>
        </p:spPr>
        <p:txBody>
          <a:bodyPr wrap="square" anchor="t" lIns="0" rIns="0" tIns="0" bIns="0">
            <a:spAutoFit/>
          </a:bodyPr>
          <a:lstStyle/>
          <a:p>
            <a:pPr algn="l"/>
            <a:r>
              <a:rPr sz="1400" b="0" i="0">
                <a:solidFill>
                  <a:srgbClr val="595959"/>
                </a:solidFill>
                <a:latin typeface="Calibri"/>
              </a:rPr>
              <a:t>DHG 502  -  Digital Approaches in Historical Research</a:t>
            </a:r>
          </a:p>
        </p:txBody>
      </p:sp>
      <p:sp>
        <p:nvSpPr>
          <p:cNvPr id="5" name="TextBox 4"/>
          <p:cNvSpPr txBox="1"/>
          <p:nvPr/>
        </p:nvSpPr>
        <p:spPr>
          <a:xfrm>
            <a:off x="1115568" y="2395728"/>
            <a:ext cx="10158984" cy="960120"/>
          </a:xfrm>
          <a:prstGeom prst="rect">
            <a:avLst/>
          </a:prstGeom>
          <a:noFill/>
        </p:spPr>
        <p:txBody>
          <a:bodyPr wrap="square" anchor="t" lIns="0" rIns="0" tIns="0" bIns="0">
            <a:spAutoFit/>
          </a:bodyPr>
          <a:lstStyle/>
          <a:p>
            <a:pPr algn="l"/>
            <a:r>
              <a:rPr sz="4000" b="1" i="0">
                <a:solidFill>
                  <a:srgbClr val="1F3864"/>
                </a:solidFill>
                <a:latin typeface="Calibri"/>
              </a:rPr>
              <a:t>Part 3 — Results, Conclusions &amp; Limits</a:t>
            </a:r>
          </a:p>
        </p:txBody>
      </p:sp>
      <p:sp>
        <p:nvSpPr>
          <p:cNvPr id="6" name="TextBox 5"/>
          <p:cNvSpPr txBox="1"/>
          <p:nvPr/>
        </p:nvSpPr>
        <p:spPr>
          <a:xfrm>
            <a:off x="1143000" y="3611880"/>
            <a:ext cx="10158984" cy="365760"/>
          </a:xfrm>
          <a:prstGeom prst="rect">
            <a:avLst/>
          </a:prstGeom>
          <a:noFill/>
        </p:spPr>
        <p:txBody>
          <a:bodyPr wrap="square" anchor="t" lIns="0" rIns="0" tIns="0" bIns="0">
            <a:spAutoFit/>
          </a:bodyPr>
          <a:lstStyle/>
          <a:p>
            <a:pPr algn="l"/>
            <a:r>
              <a:rPr sz="2200" b="0" i="0">
                <a:solidFill>
                  <a:srgbClr val="404040"/>
                </a:solidFill>
                <a:latin typeface="Calibri"/>
              </a:rPr>
              <a:t>LLM correction experiments  ·  conclusions  ·  limitations</a:t>
            </a:r>
          </a:p>
        </p:txBody>
      </p:sp>
      <p:sp>
        <p:nvSpPr>
          <p:cNvPr id="7" name="TextBox 6"/>
          <p:cNvSpPr txBox="1"/>
          <p:nvPr/>
        </p:nvSpPr>
        <p:spPr>
          <a:xfrm>
            <a:off x="1115568" y="4590288"/>
            <a:ext cx="10158984" cy="429768"/>
          </a:xfrm>
          <a:prstGeom prst="rect">
            <a:avLst/>
          </a:prstGeom>
          <a:noFill/>
        </p:spPr>
        <p:txBody>
          <a:bodyPr wrap="square" anchor="t" lIns="0" rIns="0" tIns="0" bIns="0">
            <a:spAutoFit/>
          </a:bodyPr>
          <a:lstStyle/>
          <a:p>
            <a:pPr algn="l"/>
            <a:r>
              <a:rPr sz="1400" b="0" i="0">
                <a:solidFill>
                  <a:srgbClr val="595959"/>
                </a:solidFill>
                <a:latin typeface="Calibri"/>
              </a:rPr>
              <a:t>Humphries, M., L. C. Leddy, Q. Downton, et al. 2025. </a:t>
            </a:r>
            <a:r>
              <a:rPr sz="1400" b="1" i="0">
                <a:solidFill>
                  <a:srgbClr val="1F3864"/>
                </a:solidFill>
                <a:latin typeface="Calibri"/>
              </a:rPr>
              <a:t>"Unlocking the Archives." Historical Methods.</a:t>
            </a:r>
          </a:p>
        </p:txBody>
      </p:sp>
      <p:sp>
        <p:nvSpPr>
          <p:cNvPr id="8" name="TextBox 7"/>
          <p:cNvSpPr txBox="1"/>
          <p:nvPr/>
        </p:nvSpPr>
        <p:spPr>
          <a:xfrm>
            <a:off x="1143000" y="5971032"/>
            <a:ext cx="10158984" cy="201168"/>
          </a:xfrm>
          <a:prstGeom prst="rect">
            <a:avLst/>
          </a:prstGeom>
          <a:noFill/>
        </p:spPr>
        <p:txBody>
          <a:bodyPr wrap="square" anchor="t" lIns="0" rIns="0" tIns="0" bIns="0">
            <a:spAutoFit/>
          </a:bodyPr>
          <a:lstStyle/>
          <a:p>
            <a:pPr algn="l"/>
            <a:r>
              <a:rPr sz="1300" b="0" i="0">
                <a:solidFill>
                  <a:srgbClr val="595959"/>
                </a:solidFill>
                <a:latin typeface="Calibri"/>
              </a:rPr>
              <a:t>Eric, CiCi, Ally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LLM Correction</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The Correction Experiment</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2</a:t>
            </a:r>
          </a:p>
        </p:txBody>
      </p:sp>
      <p:sp>
        <p:nvSpPr>
          <p:cNvPr id="8" name="Rounded Rectangle 7"/>
          <p:cNvSpPr/>
          <p:nvPr/>
        </p:nvSpPr>
        <p:spPr>
          <a:xfrm>
            <a:off x="758952" y="2057400"/>
            <a:ext cx="3017520" cy="132588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00" b="1" i="0">
                <a:solidFill>
                  <a:srgbClr val="1F3864"/>
                </a:solidFill>
                <a:latin typeface="Calibri"/>
              </a:rPr>
              <a:t>Inputs</a:t>
            </a:r>
          </a:p>
          <a:p>
            <a:pPr algn="l"/>
            <a:r>
              <a:rPr sz="1250" b="0" i="0">
                <a:solidFill>
                  <a:srgbClr val="404040"/>
                </a:solidFill>
                <a:latin typeface="Calibri"/>
              </a:rPr>
              <a:t>Handwritten page image  +  a rough draft transcription</a:t>
            </a:r>
          </a:p>
          <a:p>
            <a:pPr algn="l"/>
            <a:r>
              <a:rPr sz="1100" b="0" i="0">
                <a:solidFill>
                  <a:srgbClr val="595959"/>
                </a:solidFill>
                <a:latin typeface="Calibri"/>
              </a:rPr>
              <a:t>(from another LLM or from Transkribus)</a:t>
            </a:r>
          </a:p>
        </p:txBody>
      </p:sp>
      <p:sp>
        <p:nvSpPr>
          <p:cNvPr id="9" name="Right Arrow 8"/>
          <p:cNvSpPr/>
          <p:nvPr/>
        </p:nvSpPr>
        <p:spPr>
          <a:xfrm>
            <a:off x="3913632" y="2587752"/>
            <a:ext cx="411480" cy="27432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62272" y="2057400"/>
            <a:ext cx="3017520" cy="1325880"/>
          </a:xfrm>
          <a:prstGeom prst="roundRect">
            <a:avLst>
              <a:gd name="adj" fmla="val 100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00" b="1" i="0">
                <a:solidFill>
                  <a:srgbClr val="FFFFFF"/>
                </a:solidFill>
                <a:latin typeface="Calibri"/>
              </a:rPr>
              <a:t>Correcting LLM</a:t>
            </a:r>
          </a:p>
          <a:p>
            <a:pPr algn="l"/>
            <a:r>
              <a:rPr sz="1250" b="0" i="0">
                <a:solidFill>
                  <a:srgbClr val="FFFFFF"/>
                </a:solidFill>
                <a:latin typeface="Calibri"/>
              </a:rPr>
              <a:t>Reads image + draft and rewrites the text</a:t>
            </a:r>
          </a:p>
          <a:p>
            <a:pPr algn="l"/>
            <a:r>
              <a:rPr sz="1100" b="0" i="0">
                <a:solidFill>
                  <a:srgbClr val="EAF0F8"/>
                </a:solidFill>
                <a:latin typeface="Calibri"/>
              </a:rPr>
              <a:t>(Claude · Gemini · GPT-4o)</a:t>
            </a:r>
          </a:p>
        </p:txBody>
      </p:sp>
      <p:sp>
        <p:nvSpPr>
          <p:cNvPr id="11" name="Right Arrow 10"/>
          <p:cNvSpPr/>
          <p:nvPr/>
        </p:nvSpPr>
        <p:spPr>
          <a:xfrm>
            <a:off x="7616952" y="2587752"/>
            <a:ext cx="411480" cy="27432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65592" y="2057400"/>
            <a:ext cx="3264408" cy="132588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00" b="1" i="0">
                <a:solidFill>
                  <a:srgbClr val="1F3864"/>
                </a:solidFill>
                <a:latin typeface="Calibri"/>
              </a:rPr>
              <a:t>Corrected transcription</a:t>
            </a:r>
          </a:p>
          <a:p>
            <a:pPr algn="l"/>
            <a:r>
              <a:rPr sz="1250" b="0" i="0">
                <a:solidFill>
                  <a:srgbClr val="404040"/>
                </a:solidFill>
                <a:latin typeface="Calibri"/>
              </a:rPr>
              <a:t>Higher accuracy with no fine-tuning and no pre-processing</a:t>
            </a:r>
          </a:p>
        </p:txBody>
      </p:sp>
      <p:sp>
        <p:nvSpPr>
          <p:cNvPr id="13" name="Rounded Rectangle 12"/>
          <p:cNvSpPr/>
          <p:nvPr/>
        </p:nvSpPr>
        <p:spPr>
          <a:xfrm>
            <a:off x="758952" y="3703320"/>
            <a:ext cx="5120640" cy="105156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400" b="1" i="0">
                <a:solidFill>
                  <a:srgbClr val="1F3864"/>
                </a:solidFill>
                <a:latin typeface="Calibri"/>
              </a:rPr>
              <a:t>Strict CER / WER</a:t>
            </a:r>
          </a:p>
          <a:p>
            <a:pPr algn="l"/>
            <a:r>
              <a:rPr sz="1250" b="0" i="0">
                <a:solidFill>
                  <a:srgbClr val="404040"/>
                </a:solidFill>
                <a:latin typeface="Calibri"/>
              </a:rPr>
              <a:t>Counts every difference: spelling, punctuation, capitalization, historical spelling</a:t>
            </a:r>
          </a:p>
        </p:txBody>
      </p:sp>
      <p:sp>
        <p:nvSpPr>
          <p:cNvPr id="14" name="Rounded Rectangle 13"/>
          <p:cNvSpPr/>
          <p:nvPr/>
        </p:nvSpPr>
        <p:spPr>
          <a:xfrm>
            <a:off x="6309360" y="3703320"/>
            <a:ext cx="5120640" cy="105156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400" b="1" i="0">
                <a:solidFill>
                  <a:srgbClr val="1F3864"/>
                </a:solidFill>
                <a:latin typeface="Calibri"/>
              </a:rPr>
              <a:t>Modified CER / WER</a:t>
            </a:r>
          </a:p>
          <a:p>
            <a:pPr algn="l"/>
            <a:r>
              <a:rPr sz="1250" b="0" i="0">
                <a:solidFill>
                  <a:srgbClr val="404040"/>
                </a:solidFill>
                <a:latin typeface="Calibri"/>
              </a:rPr>
              <a:t>Excludes those differences - measures pure reading accuracy</a:t>
            </a:r>
          </a:p>
        </p:txBody>
      </p:sp>
      <p:sp>
        <p:nvSpPr>
          <p:cNvPr id="15" name="Rectangle 14"/>
          <p:cNvSpPr/>
          <p:nvPr/>
        </p:nvSpPr>
        <p:spPr>
          <a:xfrm>
            <a:off x="758952" y="5074920"/>
            <a:ext cx="10671048" cy="6858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5074920"/>
            <a:ext cx="10671048" cy="685800"/>
          </a:xfrm>
          <a:prstGeom prst="rect">
            <a:avLst/>
          </a:prstGeom>
          <a:noFill/>
        </p:spPr>
        <p:txBody>
          <a:bodyPr wrap="square" anchor="ctr" lIns="0" rIns="0" tIns="0" bIns="0">
            <a:spAutoFit/>
          </a:bodyPr>
          <a:lstStyle/>
          <a:p>
            <a:pPr algn="ctr"/>
            <a:r>
              <a:rPr sz="1600" b="1" i="0">
                <a:solidFill>
                  <a:srgbClr val="FFFFFF"/>
                </a:solidFill>
                <a:latin typeface="Calibri"/>
              </a:rPr>
              <a:t>Design rule: the correcting model is never the model that produced the draft.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Tables 6 &amp; 7 — Strict Metrics</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LLM-to-LLM Correction — Strict Metrics</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3</a:t>
            </a:r>
          </a:p>
        </p:txBody>
      </p:sp>
      <p:sp>
        <p:nvSpPr>
          <p:cNvPr id="8" name="TextBox 7"/>
          <p:cNvSpPr txBox="1"/>
          <p:nvPr/>
        </p:nvSpPr>
        <p:spPr>
          <a:xfrm>
            <a:off x="758952" y="1737360"/>
            <a:ext cx="10671048" cy="475488"/>
          </a:xfrm>
          <a:prstGeom prst="rect">
            <a:avLst/>
          </a:prstGeom>
          <a:noFill/>
        </p:spPr>
        <p:txBody>
          <a:bodyPr wrap="square" anchor="t" lIns="0" rIns="0" tIns="0" bIns="0">
            <a:spAutoFit/>
          </a:bodyPr>
          <a:lstStyle/>
          <a:p>
            <a:pPr algn="l"/>
            <a:r>
              <a:rPr sz="1350" b="0" i="0">
                <a:solidFill>
                  <a:srgbClr val="404040"/>
                </a:solidFill>
                <a:latin typeface="Calibri"/>
              </a:rPr>
              <a:t>Uncorrected baseline (strict CER / WER %):  </a:t>
            </a:r>
            <a:r>
              <a:rPr sz="1350" b="1" i="0">
                <a:solidFill>
                  <a:srgbClr val="1F3864"/>
                </a:solidFill>
                <a:latin typeface="Calibri"/>
              </a:rPr>
              <a:t>Claude 7.3 / 15.9   ·   Gemini 8.5 / 18.8   ·   GPT-4o 11.0 / 23.0</a:t>
            </a:r>
          </a:p>
          <a:p>
            <a:pPr algn="l"/>
            <a:r>
              <a:rPr sz="1000" b="0" i="0">
                <a:solidFill>
                  <a:srgbClr val="595959"/>
                </a:solidFill>
                <a:latin typeface="Calibri"/>
              </a:rPr>
              <a:t>n = 10 runs per pair; average %. Lower is better.</a:t>
            </a:r>
          </a:p>
        </p:txBody>
      </p:sp>
      <p:graphicFrame>
        <p:nvGraphicFramePr>
          <p:cNvPr id="9" name="Table 8"/>
          <p:cNvGraphicFramePr>
            <a:graphicFrameLocks noGrp="1"/>
          </p:cNvGraphicFramePr>
          <p:nvPr/>
        </p:nvGraphicFramePr>
        <p:xfrm>
          <a:off x="758952" y="2286000"/>
          <a:ext cx="10671048" cy="3383280"/>
        </p:xfrm>
        <a:graphic>
          <a:graphicData uri="http://schemas.openxmlformats.org/drawingml/2006/table">
            <a:tbl>
              <a:tblPr firstRow="0" bandRow="0"/>
              <a:tblGrid>
                <a:gridCol w="2560320"/>
                <a:gridCol w="2560320"/>
                <a:gridCol w="1554480"/>
                <a:gridCol w="1554480"/>
                <a:gridCol w="2441448"/>
              </a:tblGrid>
              <a:tr h="338328">
                <a:tc>
                  <a:txBody>
                    <a:bodyPr wrap="square"/>
                    <a:lstStyle/>
                    <a:p>
                      <a:pPr algn="l"/>
                      <a:r>
                        <a:rPr sz="1200" b="1">
                          <a:solidFill>
                            <a:srgbClr val="FFFFFF"/>
                          </a:solidFill>
                          <a:latin typeface="Calibri"/>
                        </a:rPr>
                        <a:t>Draft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l"/>
                      <a:r>
                        <a:rPr sz="1200" b="1">
                          <a:solidFill>
                            <a:srgbClr val="FFFFFF"/>
                          </a:solidFill>
                          <a:latin typeface="Calibri"/>
                        </a:rPr>
                        <a:t>Corrector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Strict CER %</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Strict WER %</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Pair type</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r>
              <a:tr h="338328">
                <a:tc>
                  <a:txBody>
                    <a:bodyPr wrap="square"/>
                    <a:lstStyle/>
                    <a:p>
                      <a:pPr algn="l"/>
                      <a:r>
                        <a:rPr sz="1250" b="0">
                          <a:solidFill>
                            <a:srgbClr val="1F3864"/>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l"/>
                      <a:r>
                        <a:rPr sz="1250" b="0">
                          <a:solidFill>
                            <a:srgbClr val="1F3864"/>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5.7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14.0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r>
              <a:tr h="338328">
                <a:tc>
                  <a:txBody>
                    <a:bodyPr wrap="square"/>
                    <a:lstStyle/>
                    <a:p>
                      <a:pPr algn="l"/>
                      <a:r>
                        <a:rPr sz="1250" b="0">
                          <a:solidFill>
                            <a:srgbClr val="1F3864"/>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l"/>
                      <a:r>
                        <a:rPr sz="1250" b="0">
                          <a:solidFill>
                            <a:srgbClr val="1F3864"/>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5.8</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13.8</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6.7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15.3</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7.4</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17.1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7.9</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17.9</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9.8</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19.0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7.1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15.6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338328">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8.4</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18.5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11.2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23.2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bl>
          </a:graphicData>
        </a:graphic>
      </p:graphicFrame>
      <p:sp>
        <p:nvSpPr>
          <p:cNvPr id="10" name="Rectangle 9"/>
          <p:cNvSpPr/>
          <p:nvPr/>
        </p:nvSpPr>
        <p:spPr>
          <a:xfrm>
            <a:off x="758952" y="5760720"/>
            <a:ext cx="10671048" cy="5486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760720"/>
            <a:ext cx="10671048" cy="548640"/>
          </a:xfrm>
          <a:prstGeom prst="rect">
            <a:avLst/>
          </a:prstGeom>
          <a:noFill/>
        </p:spPr>
        <p:txBody>
          <a:bodyPr wrap="square" anchor="ctr" lIns="0" rIns="0" tIns="0" bIns="0">
            <a:spAutoFit/>
          </a:bodyPr>
          <a:lstStyle/>
          <a:p>
            <a:pPr algn="ctr"/>
            <a:r>
              <a:rPr sz="1400" b="1" i="0">
                <a:solidFill>
                  <a:srgbClr val="FFFFFF"/>
                </a:solidFill>
                <a:latin typeface="Calibri"/>
              </a:rPr>
              <a:t>Best pairs (Claude ↔ Gemini): strict CER 5.7-5.8%, WER 13.8-14.0%.  </a:t>
            </a:r>
            <a:r>
              <a:rPr sz="1400" b="0" i="0">
                <a:solidFill>
                  <a:srgbClr val="EAF0F8"/>
                </a:solidFill>
                <a:latin typeface="Calibri"/>
              </a:rPr>
              <a:t>Self-correction stays flat — GPT-4o even gets 1-2% worse.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Tables 8 &amp; 9 — Modified Metrics</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LLM-to-LLM Correction — Modified Metrics</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4</a:t>
            </a:r>
          </a:p>
        </p:txBody>
      </p:sp>
      <p:sp>
        <p:nvSpPr>
          <p:cNvPr id="8" name="TextBox 7"/>
          <p:cNvSpPr txBox="1"/>
          <p:nvPr/>
        </p:nvSpPr>
        <p:spPr>
          <a:xfrm>
            <a:off x="758952" y="1737360"/>
            <a:ext cx="10671048" cy="475488"/>
          </a:xfrm>
          <a:prstGeom prst="rect">
            <a:avLst/>
          </a:prstGeom>
          <a:noFill/>
        </p:spPr>
        <p:txBody>
          <a:bodyPr wrap="square" anchor="t" lIns="0" rIns="0" tIns="0" bIns="0">
            <a:spAutoFit/>
          </a:bodyPr>
          <a:lstStyle/>
          <a:p>
            <a:pPr algn="l"/>
            <a:r>
              <a:rPr sz="1350" b="0" i="0">
                <a:solidFill>
                  <a:srgbClr val="404040"/>
                </a:solidFill>
                <a:latin typeface="Calibri"/>
              </a:rPr>
              <a:t>Uncorrected baseline (modified CER / WER %):  </a:t>
            </a:r>
            <a:r>
              <a:rPr sz="1350" b="1" i="0">
                <a:solidFill>
                  <a:srgbClr val="1F3864"/>
                </a:solidFill>
                <a:latin typeface="Calibri"/>
              </a:rPr>
              <a:t>Claude 5.7 / 8.9   ·   Gemini 6.7 / 11.0   ·   GPT-4o 9.0 / 14.1</a:t>
            </a:r>
          </a:p>
          <a:p>
            <a:pPr algn="l"/>
            <a:r>
              <a:rPr sz="1000" b="0" i="0">
                <a:solidFill>
                  <a:srgbClr val="595959"/>
                </a:solidFill>
                <a:latin typeface="Calibri"/>
              </a:rPr>
              <a:t>Historical spelling, punctuation, and capitalization differences are excluded. Lower is better.</a:t>
            </a:r>
          </a:p>
        </p:txBody>
      </p:sp>
      <p:graphicFrame>
        <p:nvGraphicFramePr>
          <p:cNvPr id="9" name="Table 8"/>
          <p:cNvGraphicFramePr>
            <a:graphicFrameLocks noGrp="1"/>
          </p:cNvGraphicFramePr>
          <p:nvPr/>
        </p:nvGraphicFramePr>
        <p:xfrm>
          <a:off x="758952" y="2286000"/>
          <a:ext cx="10671048" cy="3383280"/>
        </p:xfrm>
        <a:graphic>
          <a:graphicData uri="http://schemas.openxmlformats.org/drawingml/2006/table">
            <a:tbl>
              <a:tblPr firstRow="0" bandRow="0"/>
              <a:tblGrid>
                <a:gridCol w="2560320"/>
                <a:gridCol w="2560320"/>
                <a:gridCol w="1554480"/>
                <a:gridCol w="1554480"/>
                <a:gridCol w="2441448"/>
              </a:tblGrid>
              <a:tr h="338328">
                <a:tc>
                  <a:txBody>
                    <a:bodyPr wrap="square"/>
                    <a:lstStyle/>
                    <a:p>
                      <a:pPr algn="l"/>
                      <a:r>
                        <a:rPr sz="1200" b="1">
                          <a:solidFill>
                            <a:srgbClr val="FFFFFF"/>
                          </a:solidFill>
                          <a:latin typeface="Calibri"/>
                        </a:rPr>
                        <a:t>Draft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l"/>
                      <a:r>
                        <a:rPr sz="1200" b="1">
                          <a:solidFill>
                            <a:srgbClr val="FFFFFF"/>
                          </a:solidFill>
                          <a:latin typeface="Calibri"/>
                        </a:rPr>
                        <a:t>Corrector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Mod. CER %</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Mod. WER %</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Pair type</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r>
              <a:tr h="338328">
                <a:tc>
                  <a:txBody>
                    <a:bodyPr wrap="square"/>
                    <a:lstStyle/>
                    <a:p>
                      <a:pPr algn="l"/>
                      <a:r>
                        <a:rPr sz="1250" b="0">
                          <a:solidFill>
                            <a:srgbClr val="1F3864"/>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l"/>
                      <a:r>
                        <a:rPr sz="1250" b="0">
                          <a:solidFill>
                            <a:srgbClr val="1F3864"/>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4.1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7.0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r>
              <a:tr h="338328">
                <a:tc>
                  <a:txBody>
                    <a:bodyPr wrap="square"/>
                    <a:lstStyle/>
                    <a:p>
                      <a:pPr algn="l"/>
                      <a:r>
                        <a:rPr sz="1250" b="0">
                          <a:solidFill>
                            <a:srgbClr val="1F3864"/>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l"/>
                      <a:r>
                        <a:rPr sz="1250" b="0">
                          <a:solidFill>
                            <a:srgbClr val="1F3864"/>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4.2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6.9</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5.0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8.0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5.6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9.0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6.0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9.4</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8.1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11.7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Heterogeneous</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38328">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5.5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8.7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338328">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6.6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10.6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338328">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9.1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14.2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50" b="0">
                          <a:solidFill>
                            <a:srgbClr val="404040"/>
                          </a:solidFill>
                          <a:latin typeface="Calibri"/>
                        </a:rPr>
                        <a:t>Self (same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bl>
          </a:graphicData>
        </a:graphic>
      </p:graphicFrame>
      <p:sp>
        <p:nvSpPr>
          <p:cNvPr id="10" name="Rectangle 9"/>
          <p:cNvSpPr/>
          <p:nvPr/>
        </p:nvSpPr>
        <p:spPr>
          <a:xfrm>
            <a:off x="758952" y="5760720"/>
            <a:ext cx="10671048" cy="5486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760720"/>
            <a:ext cx="10671048" cy="548640"/>
          </a:xfrm>
          <a:prstGeom prst="rect">
            <a:avLst/>
          </a:prstGeom>
          <a:noFill/>
        </p:spPr>
        <p:txBody>
          <a:bodyPr wrap="square" anchor="ctr" lIns="0" rIns="0" tIns="0" bIns="0">
            <a:spAutoFit/>
          </a:bodyPr>
          <a:lstStyle/>
          <a:p>
            <a:pPr algn="ctr"/>
            <a:r>
              <a:rPr sz="1400" b="1" i="0">
                <a:solidFill>
                  <a:srgbClr val="FFFFFF"/>
                </a:solidFill>
                <a:latin typeface="Calibri"/>
              </a:rPr>
              <a:t>Claude ↔ Gemini reach modified CER 4.1-4.2% / WER 6.9-7.0%  </a:t>
            </a:r>
            <a:r>
              <a:rPr sz="1400" b="0" i="0">
                <a:solidFill>
                  <a:srgbClr val="EAF0F8"/>
                </a:solidFill>
                <a:latin typeface="Calibri"/>
              </a:rPr>
              <a:t>— over 96% character and 93% word accuracy: non-expert human level.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Interpretation</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Why Self-Correction Fails</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5</a:t>
            </a:r>
          </a:p>
        </p:txBody>
      </p:sp>
      <p:sp>
        <p:nvSpPr>
          <p:cNvPr id="8" name="Rounded Rectangle 7"/>
          <p:cNvSpPr/>
          <p:nvPr/>
        </p:nvSpPr>
        <p:spPr>
          <a:xfrm>
            <a:off x="758952" y="2103120"/>
            <a:ext cx="5120640" cy="2651760"/>
          </a:xfrm>
          <a:prstGeom prst="roundRect">
            <a:avLst>
              <a:gd name="adj" fmla="val 10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600" b="1" i="0">
                <a:solidFill>
                  <a:srgbClr val="404040"/>
                </a:solidFill>
                <a:latin typeface="Calibri"/>
              </a:rPr>
              <a:t>Homogeneous (self-)correction</a:t>
            </a:r>
          </a:p>
          <a:p>
            <a:pPr algn="l">
              <a:spcBef>
                <a:spcPts val="800"/>
              </a:spcBef>
            </a:pPr>
            <a:r>
              <a:rPr sz="1350" b="0" i="0">
                <a:solidFill>
                  <a:srgbClr val="404040"/>
                </a:solidFill>
                <a:latin typeface="Calibri"/>
              </a:rPr>
              <a:t>The model checks its own output - same weights, same blind spots.</a:t>
            </a:r>
          </a:p>
          <a:p>
            <a:pPr algn="l">
              <a:spcBef>
                <a:spcPts val="600"/>
              </a:spcBef>
            </a:pPr>
            <a:r>
              <a:rPr sz="1350" b="0" i="0">
                <a:solidFill>
                  <a:srgbClr val="404040"/>
                </a:solidFill>
                <a:latin typeface="Calibri"/>
              </a:rPr>
              <a:t>Its mistakes are not anomalies: to the model they are probable outputs.</a:t>
            </a:r>
          </a:p>
          <a:p>
            <a:pPr algn="l">
              <a:spcBef>
                <a:spcPts val="600"/>
              </a:spcBef>
            </a:pPr>
            <a:r>
              <a:rPr sz="1350" b="1" i="0">
                <a:solidFill>
                  <a:srgbClr val="404040"/>
                </a:solidFill>
                <a:latin typeface="Calibri"/>
              </a:rPr>
              <a:t>GPT-4o self-correcting: scores drop 1-2%.</a:t>
            </a:r>
          </a:p>
          <a:p>
            <a:pPr algn="l">
              <a:spcBef>
                <a:spcPts val="600"/>
              </a:spcBef>
            </a:pPr>
            <a:r>
              <a:rPr sz="1350" b="0" i="0">
                <a:solidFill>
                  <a:srgbClr val="404040"/>
                </a:solidFill>
                <a:latin typeface="Calibri"/>
              </a:rPr>
              <a:t>Average change from self-correction: ~1%.</a:t>
            </a:r>
          </a:p>
        </p:txBody>
      </p:sp>
      <p:sp>
        <p:nvSpPr>
          <p:cNvPr id="9" name="Rounded Rectangle 8"/>
          <p:cNvSpPr/>
          <p:nvPr/>
        </p:nvSpPr>
        <p:spPr>
          <a:xfrm>
            <a:off x="6309360" y="2103120"/>
            <a:ext cx="5120640" cy="2651760"/>
          </a:xfrm>
          <a:prstGeom prst="roundRect">
            <a:avLst>
              <a:gd name="adj" fmla="val 100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600" b="1" i="0">
                <a:solidFill>
                  <a:srgbClr val="FFFFFF"/>
                </a:solidFill>
                <a:latin typeface="Calibri"/>
              </a:rPr>
              <a:t>Heterogeneous correction</a:t>
            </a:r>
          </a:p>
          <a:p>
            <a:pPr algn="l">
              <a:spcBef>
                <a:spcPts val="800"/>
              </a:spcBef>
            </a:pPr>
            <a:r>
              <a:rPr sz="1350" b="0" i="0">
                <a:solidFill>
                  <a:srgbClr val="FFFFFF"/>
                </a:solidFill>
                <a:latin typeface="Calibri"/>
              </a:rPr>
              <a:t>A different model reads the draft - different weights, different errors.</a:t>
            </a:r>
          </a:p>
          <a:p>
            <a:pPr algn="l">
              <a:spcBef>
                <a:spcPts val="600"/>
              </a:spcBef>
            </a:pPr>
            <a:r>
              <a:rPr sz="1350" b="0" i="0">
                <a:solidFill>
                  <a:srgbClr val="FFFFFF"/>
                </a:solidFill>
                <a:latin typeface="Calibri"/>
              </a:rPr>
              <a:t>It catches mistakes the first model would never make itself.</a:t>
            </a:r>
          </a:p>
          <a:p>
            <a:pPr algn="l">
              <a:spcBef>
                <a:spcPts val="600"/>
              </a:spcBef>
            </a:pPr>
            <a:r>
              <a:rPr sz="1350" b="1" i="0">
                <a:solidFill>
                  <a:srgbClr val="FFFFFF"/>
                </a:solidFill>
                <a:latin typeface="Calibri"/>
              </a:rPr>
              <a:t>Strict metrics: 15-20% CER and 22-23% WER improvement.</a:t>
            </a:r>
          </a:p>
          <a:p>
            <a:pPr algn="l">
              <a:spcBef>
                <a:spcPts val="600"/>
              </a:spcBef>
            </a:pPr>
            <a:r>
              <a:rPr sz="1350" b="0" i="0">
                <a:solidFill>
                  <a:srgbClr val="EAF0F8"/>
                </a:solidFill>
                <a:latin typeface="Calibri"/>
              </a:rPr>
              <a:t>Modified metrics: CER down 36%, WER down 16% on average.</a:t>
            </a:r>
          </a:p>
        </p:txBody>
      </p:sp>
      <p:sp>
        <p:nvSpPr>
          <p:cNvPr id="10" name="Rectangle 9"/>
          <p:cNvSpPr/>
          <p:nvPr/>
        </p:nvSpPr>
        <p:spPr>
          <a:xfrm>
            <a:off x="758952" y="5029200"/>
            <a:ext cx="10671048" cy="7315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029200"/>
            <a:ext cx="10671048" cy="731520"/>
          </a:xfrm>
          <a:prstGeom prst="rect">
            <a:avLst/>
          </a:prstGeom>
          <a:noFill/>
        </p:spPr>
        <p:txBody>
          <a:bodyPr wrap="square" anchor="ctr" lIns="0" rIns="0" tIns="0" bIns="0">
            <a:spAutoFit/>
          </a:bodyPr>
          <a:lstStyle/>
          <a:p>
            <a:pPr algn="ctr"/>
            <a:r>
              <a:rPr sz="1400" b="1" i="0">
                <a:solidFill>
                  <a:srgbClr val="FFFFFF"/>
                </a:solidFill>
                <a:latin typeface="Calibri"/>
              </a:rPr>
              <a:t>Errors persist in self-correction because they are probable outputs for the model that made them — a fresh set of weights is needed to see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Table 10 — Correcting Transkribus</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Correcting Conventional HTR Output</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6</a:t>
            </a:r>
          </a:p>
        </p:txBody>
      </p:sp>
      <p:sp>
        <p:nvSpPr>
          <p:cNvPr id="8" name="TextBox 7"/>
          <p:cNvSpPr txBox="1"/>
          <p:nvPr/>
        </p:nvSpPr>
        <p:spPr>
          <a:xfrm>
            <a:off x="758952" y="1783080"/>
            <a:ext cx="10671048" cy="320040"/>
          </a:xfrm>
          <a:prstGeom prst="rect">
            <a:avLst/>
          </a:prstGeom>
          <a:noFill/>
        </p:spPr>
        <p:txBody>
          <a:bodyPr wrap="square" anchor="t" lIns="0" rIns="0" tIns="0" bIns="0">
            <a:spAutoFit/>
          </a:bodyPr>
          <a:lstStyle/>
          <a:p>
            <a:pPr algn="l"/>
            <a:r>
              <a:rPr sz="1350" b="0" i="0">
                <a:solidFill>
                  <a:srgbClr val="404040"/>
                </a:solidFill>
                <a:latin typeface="Calibri"/>
              </a:rPr>
              <a:t>LLMs correcting Transkribus transcriptions (PyLaia and Titan) — all values %, lower is better.</a:t>
            </a:r>
          </a:p>
        </p:txBody>
      </p:sp>
      <p:graphicFrame>
        <p:nvGraphicFramePr>
          <p:cNvPr id="9" name="Table 8"/>
          <p:cNvGraphicFramePr>
            <a:graphicFrameLocks noGrp="1"/>
          </p:cNvGraphicFramePr>
          <p:nvPr/>
        </p:nvGraphicFramePr>
        <p:xfrm>
          <a:off x="758952" y="2240280"/>
          <a:ext cx="10671048" cy="2697478"/>
        </p:xfrm>
        <a:graphic>
          <a:graphicData uri="http://schemas.openxmlformats.org/drawingml/2006/table">
            <a:tbl>
              <a:tblPr firstRow="0" bandRow="0"/>
              <a:tblGrid>
                <a:gridCol w="2194560"/>
                <a:gridCol w="2194560"/>
                <a:gridCol w="1280160"/>
                <a:gridCol w="1280160"/>
                <a:gridCol w="1737360"/>
                <a:gridCol w="1984248"/>
              </a:tblGrid>
              <a:tr h="385354">
                <a:tc>
                  <a:txBody>
                    <a:bodyPr wrap="square"/>
                    <a:lstStyle/>
                    <a:p>
                      <a:pPr algn="l"/>
                      <a:r>
                        <a:rPr sz="1200" b="1">
                          <a:solidFill>
                            <a:srgbClr val="FFFFFF"/>
                          </a:solidFill>
                          <a:latin typeface="Calibri"/>
                        </a:rPr>
                        <a:t>Transkribus model</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l"/>
                      <a:r>
                        <a:rPr sz="1200" b="1">
                          <a:solidFill>
                            <a:srgbClr val="FFFFFF"/>
                          </a:solidFill>
                          <a:latin typeface="Calibri"/>
                        </a:rPr>
                        <a:t>Corrector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Strict CER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Strict WER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Mod. CER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c>
                  <a:txBody>
                    <a:bodyPr wrap="square"/>
                    <a:lstStyle/>
                    <a:p>
                      <a:pPr algn="ctr"/>
                      <a:r>
                        <a:rPr sz="1200" b="1">
                          <a:solidFill>
                            <a:srgbClr val="FFFFFF"/>
                          </a:solidFill>
                          <a:latin typeface="Calibri"/>
                        </a:rPr>
                        <a:t>Mod. WER</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1F3864"/>
                    </a:solidFill>
                  </a:tcPr>
                </a:tc>
              </a:tr>
              <a:tr h="385354">
                <a:tc>
                  <a:txBody>
                    <a:bodyPr wrap="square"/>
                    <a:lstStyle/>
                    <a:p>
                      <a:pPr algn="l"/>
                      <a:r>
                        <a:rPr sz="1250" b="0">
                          <a:solidFill>
                            <a:srgbClr val="1F3864"/>
                          </a:solidFill>
                          <a:latin typeface="Calibri"/>
                        </a:rPr>
                        <a:t>Titan</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l"/>
                      <a:r>
                        <a:rPr sz="1250" b="0">
                          <a:solidFill>
                            <a:srgbClr val="1F3864"/>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3.0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9.0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1.8</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c>
                  <a:txBody>
                    <a:bodyPr wrap="square"/>
                    <a:lstStyle/>
                    <a:p>
                      <a:pPr algn="ctr"/>
                      <a:r>
                        <a:rPr sz="1250" b="0">
                          <a:solidFill>
                            <a:srgbClr val="1F3864"/>
                          </a:solidFill>
                          <a:latin typeface="Calibri"/>
                        </a:rPr>
                        <a: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EAF0F8"/>
                    </a:solidFill>
                  </a:tcPr>
                </a:tc>
              </a:tr>
              <a:tr h="385354">
                <a:tc>
                  <a:txBody>
                    <a:bodyPr wrap="square"/>
                    <a:lstStyle/>
                    <a:p>
                      <a:pPr algn="l"/>
                      <a:r>
                        <a:rPr sz="1250" b="0">
                          <a:solidFill>
                            <a:srgbClr val="404040"/>
                          </a:solidFill>
                          <a:latin typeface="Calibri"/>
                        </a:rPr>
                        <a:t>PyLaia</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Claude Sonnet-3.5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11.2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2.6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85354">
                <a:tc>
                  <a:txBody>
                    <a:bodyPr wrap="square"/>
                    <a:lstStyle/>
                    <a:p>
                      <a:pPr algn="l"/>
                      <a:r>
                        <a:rPr sz="1250" b="0">
                          <a:solidFill>
                            <a:srgbClr val="404040"/>
                          </a:solidFill>
                          <a:latin typeface="Calibri"/>
                        </a:rPr>
                        <a:t>Titan</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4.1</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12.0</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2.6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85354">
                <a:tc>
                  <a:txBody>
                    <a:bodyPr wrap="square"/>
                    <a:lstStyle/>
                    <a:p>
                      <a:pPr algn="l"/>
                      <a:r>
                        <a:rPr sz="1250" b="0">
                          <a:solidFill>
                            <a:srgbClr val="404040"/>
                          </a:solidFill>
                          <a:latin typeface="Calibri"/>
                        </a:rPr>
                        <a:t>Titan</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11.5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2.7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4.7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85354">
                <a:tc>
                  <a:txBody>
                    <a:bodyPr wrap="square"/>
                    <a:lstStyle/>
                    <a:p>
                      <a:pPr algn="l"/>
                      <a:r>
                        <a:rPr sz="1250" b="0">
                          <a:solidFill>
                            <a:srgbClr val="404040"/>
                          </a:solidFill>
                          <a:latin typeface="Calibri"/>
                        </a:rPr>
                        <a:t>PyLaia</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Gemini 1.5 Pro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5.4</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16.2</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3.6</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6.5</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85354">
                <a:tc>
                  <a:txBody>
                    <a:bodyPr wrap="square"/>
                    <a:lstStyle/>
                    <a:p>
                      <a:pPr algn="l"/>
                      <a:r>
                        <a:rPr sz="1250" b="0">
                          <a:solidFill>
                            <a:srgbClr val="404040"/>
                          </a:solidFill>
                          <a:latin typeface="Calibri"/>
                        </a:rPr>
                        <a:t>PyLaia</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250" b="0">
                          <a:solidFill>
                            <a:srgbClr val="404040"/>
                          </a:solidFill>
                          <a:latin typeface="Calibri"/>
                        </a:rPr>
                        <a:t>GPT-4o</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5.9</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14.4</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3.8</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50" b="0">
                          <a:solidFill>
                            <a:srgbClr val="404040"/>
                          </a:solidFill>
                          <a:latin typeface="Calibri"/>
                        </a:rPr>
                        <a:t>6.7</a:t>
                      </a:r>
                    </a:p>
                  </a:txBody>
                  <a:tcPr marL="73152" marR="54864" marT="9144" marB="9144"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10" name="Rectangle 9"/>
          <p:cNvSpPr/>
          <p:nvPr/>
        </p:nvSpPr>
        <p:spPr>
          <a:xfrm>
            <a:off x="758952" y="5212080"/>
            <a:ext cx="10671048" cy="8229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212080"/>
            <a:ext cx="10671048" cy="822960"/>
          </a:xfrm>
          <a:prstGeom prst="rect">
            <a:avLst/>
          </a:prstGeom>
          <a:noFill/>
        </p:spPr>
        <p:txBody>
          <a:bodyPr wrap="square" anchor="ctr" lIns="0" rIns="0" tIns="0" bIns="0">
            <a:spAutoFit/>
          </a:bodyPr>
          <a:lstStyle/>
          <a:p>
            <a:pPr algn="ctr"/>
            <a:r>
              <a:rPr sz="1400" b="1" i="0">
                <a:solidFill>
                  <a:srgbClr val="FFFFFF"/>
                </a:solidFill>
                <a:latin typeface="Calibri"/>
              </a:rPr>
              <a:t>After correction: 97-99% character accuracy · 91-96% word accuracy — near experienced human transcribers.</a:t>
            </a:r>
          </a:p>
          <a:p>
            <a:pPr algn="ctr"/>
            <a:r>
              <a:rPr sz="1300" b="0" i="0">
                <a:solidFill>
                  <a:srgbClr val="EAF0F8"/>
                </a:solidFill>
                <a:latin typeface="Calibri"/>
              </a:rPr>
              <a:t>LLMs act as a post-processing layer that turns poor HTR output into usable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Table 11 — Latency &amp; Cost</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Speed and Cost of Correction</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7</a:t>
            </a:r>
          </a:p>
        </p:txBody>
      </p:sp>
      <p:sp>
        <p:nvSpPr>
          <p:cNvPr id="8" name="Rounded Rectangle 7"/>
          <p:cNvSpPr/>
          <p:nvPr/>
        </p:nvSpPr>
        <p:spPr>
          <a:xfrm>
            <a:off x="758952" y="2103120"/>
            <a:ext cx="3300984" cy="237744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331720"/>
            <a:ext cx="3300984" cy="274320"/>
          </a:xfrm>
          <a:prstGeom prst="rect">
            <a:avLst/>
          </a:prstGeom>
          <a:noFill/>
        </p:spPr>
        <p:txBody>
          <a:bodyPr wrap="square" anchor="t" lIns="0" rIns="0" tIns="0" bIns="0">
            <a:spAutoFit/>
          </a:bodyPr>
          <a:lstStyle/>
          <a:p>
            <a:pPr algn="ctr"/>
            <a:r>
              <a:rPr sz="1500" b="1" i="0">
                <a:solidFill>
                  <a:srgbClr val="1F3864"/>
                </a:solidFill>
                <a:latin typeface="Calibri"/>
              </a:rPr>
              <a:t>Claude Sonnet-3.5</a:t>
            </a:r>
          </a:p>
        </p:txBody>
      </p:sp>
      <p:sp>
        <p:nvSpPr>
          <p:cNvPr id="10" name="TextBox 9"/>
          <p:cNvSpPr txBox="1"/>
          <p:nvPr/>
        </p:nvSpPr>
        <p:spPr>
          <a:xfrm>
            <a:off x="758952" y="2697480"/>
            <a:ext cx="3300984" cy="731520"/>
          </a:xfrm>
          <a:prstGeom prst="rect">
            <a:avLst/>
          </a:prstGeom>
          <a:noFill/>
        </p:spPr>
        <p:txBody>
          <a:bodyPr wrap="square" anchor="t" lIns="0" rIns="0" tIns="0" bIns="0">
            <a:spAutoFit/>
          </a:bodyPr>
          <a:lstStyle/>
          <a:p>
            <a:pPr algn="ctr"/>
            <a:r>
              <a:rPr sz="4000" b="1" i="0">
                <a:solidFill>
                  <a:srgbClr val="1F3864"/>
                </a:solidFill>
                <a:latin typeface="Calibri"/>
              </a:rPr>
              <a:t>$0.010</a:t>
            </a:r>
          </a:p>
        </p:txBody>
      </p:sp>
      <p:sp>
        <p:nvSpPr>
          <p:cNvPr id="11" name="TextBox 10"/>
          <p:cNvSpPr txBox="1"/>
          <p:nvPr/>
        </p:nvSpPr>
        <p:spPr>
          <a:xfrm>
            <a:off x="758952" y="3429000"/>
            <a:ext cx="3300984" cy="228600"/>
          </a:xfrm>
          <a:prstGeom prst="rect">
            <a:avLst/>
          </a:prstGeom>
          <a:noFill/>
        </p:spPr>
        <p:txBody>
          <a:bodyPr wrap="square" anchor="t" lIns="0" rIns="0" tIns="0" bIns="0">
            <a:spAutoFit/>
          </a:bodyPr>
          <a:lstStyle/>
          <a:p>
            <a:pPr algn="ctr"/>
            <a:r>
              <a:rPr sz="1200" b="0" i="0">
                <a:solidFill>
                  <a:srgbClr val="595959"/>
                </a:solidFill>
                <a:latin typeface="Calibri"/>
              </a:rPr>
              <a:t>per page</a:t>
            </a:r>
          </a:p>
        </p:txBody>
      </p:sp>
      <p:sp>
        <p:nvSpPr>
          <p:cNvPr id="12" name="TextBox 11"/>
          <p:cNvSpPr txBox="1"/>
          <p:nvPr/>
        </p:nvSpPr>
        <p:spPr>
          <a:xfrm>
            <a:off x="758952" y="3767328"/>
            <a:ext cx="3300984" cy="256032"/>
          </a:xfrm>
          <a:prstGeom prst="rect">
            <a:avLst/>
          </a:prstGeom>
          <a:noFill/>
        </p:spPr>
        <p:txBody>
          <a:bodyPr wrap="square" anchor="t" lIns="0" rIns="0" tIns="0" bIns="0">
            <a:spAutoFit/>
          </a:bodyPr>
          <a:lstStyle/>
          <a:p>
            <a:pPr algn="ctr"/>
            <a:r>
              <a:rPr sz="1500" b="1" i="0">
                <a:solidFill>
                  <a:srgbClr val="404040"/>
                </a:solidFill>
                <a:latin typeface="Calibri"/>
              </a:rPr>
              <a:t>1.52 s / page</a:t>
            </a:r>
          </a:p>
        </p:txBody>
      </p:sp>
      <p:sp>
        <p:nvSpPr>
          <p:cNvPr id="13" name="TextBox 12"/>
          <p:cNvSpPr txBox="1"/>
          <p:nvPr/>
        </p:nvSpPr>
        <p:spPr>
          <a:xfrm>
            <a:off x="758952" y="4096512"/>
            <a:ext cx="3300984" cy="228600"/>
          </a:xfrm>
          <a:prstGeom prst="rect">
            <a:avLst/>
          </a:prstGeom>
          <a:noFill/>
        </p:spPr>
        <p:txBody>
          <a:bodyPr wrap="square" anchor="t" lIns="0" rIns="0" tIns="0" bIns="0">
            <a:spAutoFit/>
          </a:bodyPr>
          <a:lstStyle/>
          <a:p>
            <a:pPr algn="ctr"/>
            <a:r>
              <a:rPr sz="1200" b="0" i="0">
                <a:solidFill>
                  <a:srgbClr val="595959"/>
                </a:solidFill>
                <a:latin typeface="Calibri"/>
              </a:rPr>
              <a:t>50 pages: $0.53 total</a:t>
            </a:r>
          </a:p>
        </p:txBody>
      </p:sp>
      <p:sp>
        <p:nvSpPr>
          <p:cNvPr id="14" name="Rounded Rectangle 13"/>
          <p:cNvSpPr/>
          <p:nvPr/>
        </p:nvSpPr>
        <p:spPr>
          <a:xfrm>
            <a:off x="4443984" y="2103120"/>
            <a:ext cx="3300984" cy="237744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331720"/>
            <a:ext cx="3300984" cy="274320"/>
          </a:xfrm>
          <a:prstGeom prst="rect">
            <a:avLst/>
          </a:prstGeom>
          <a:noFill/>
        </p:spPr>
        <p:txBody>
          <a:bodyPr wrap="square" anchor="t" lIns="0" rIns="0" tIns="0" bIns="0">
            <a:spAutoFit/>
          </a:bodyPr>
          <a:lstStyle/>
          <a:p>
            <a:pPr algn="ctr"/>
            <a:r>
              <a:rPr sz="1500" b="1" i="0">
                <a:solidFill>
                  <a:srgbClr val="1F3864"/>
                </a:solidFill>
                <a:latin typeface="Calibri"/>
              </a:rPr>
              <a:t>GPT-4o</a:t>
            </a:r>
          </a:p>
        </p:txBody>
      </p:sp>
      <p:sp>
        <p:nvSpPr>
          <p:cNvPr id="16" name="TextBox 15"/>
          <p:cNvSpPr txBox="1"/>
          <p:nvPr/>
        </p:nvSpPr>
        <p:spPr>
          <a:xfrm>
            <a:off x="4443984" y="2697480"/>
            <a:ext cx="3300984" cy="731520"/>
          </a:xfrm>
          <a:prstGeom prst="rect">
            <a:avLst/>
          </a:prstGeom>
          <a:noFill/>
        </p:spPr>
        <p:txBody>
          <a:bodyPr wrap="square" anchor="t" lIns="0" rIns="0" tIns="0" bIns="0">
            <a:spAutoFit/>
          </a:bodyPr>
          <a:lstStyle/>
          <a:p>
            <a:pPr algn="ctr"/>
            <a:r>
              <a:rPr sz="4000" b="1" i="0">
                <a:solidFill>
                  <a:srgbClr val="1F3864"/>
                </a:solidFill>
                <a:latin typeface="Calibri"/>
              </a:rPr>
              <a:t>$0.006</a:t>
            </a:r>
          </a:p>
        </p:txBody>
      </p:sp>
      <p:sp>
        <p:nvSpPr>
          <p:cNvPr id="17" name="TextBox 16"/>
          <p:cNvSpPr txBox="1"/>
          <p:nvPr/>
        </p:nvSpPr>
        <p:spPr>
          <a:xfrm>
            <a:off x="4443984" y="3429000"/>
            <a:ext cx="3300984" cy="228600"/>
          </a:xfrm>
          <a:prstGeom prst="rect">
            <a:avLst/>
          </a:prstGeom>
          <a:noFill/>
        </p:spPr>
        <p:txBody>
          <a:bodyPr wrap="square" anchor="t" lIns="0" rIns="0" tIns="0" bIns="0">
            <a:spAutoFit/>
          </a:bodyPr>
          <a:lstStyle/>
          <a:p>
            <a:pPr algn="ctr"/>
            <a:r>
              <a:rPr sz="1200" b="0" i="0">
                <a:solidFill>
                  <a:srgbClr val="595959"/>
                </a:solidFill>
                <a:latin typeface="Calibri"/>
              </a:rPr>
              <a:t>per page</a:t>
            </a:r>
          </a:p>
        </p:txBody>
      </p:sp>
      <p:sp>
        <p:nvSpPr>
          <p:cNvPr id="18" name="TextBox 17"/>
          <p:cNvSpPr txBox="1"/>
          <p:nvPr/>
        </p:nvSpPr>
        <p:spPr>
          <a:xfrm>
            <a:off x="4443984" y="3767328"/>
            <a:ext cx="3300984" cy="256032"/>
          </a:xfrm>
          <a:prstGeom prst="rect">
            <a:avLst/>
          </a:prstGeom>
          <a:noFill/>
        </p:spPr>
        <p:txBody>
          <a:bodyPr wrap="square" anchor="t" lIns="0" rIns="0" tIns="0" bIns="0">
            <a:spAutoFit/>
          </a:bodyPr>
          <a:lstStyle/>
          <a:p>
            <a:pPr algn="ctr"/>
            <a:r>
              <a:rPr sz="1500" b="1" i="0">
                <a:solidFill>
                  <a:srgbClr val="404040"/>
                </a:solidFill>
                <a:latin typeface="Calibri"/>
              </a:rPr>
              <a:t>1.22 s / page</a:t>
            </a:r>
          </a:p>
        </p:txBody>
      </p:sp>
      <p:sp>
        <p:nvSpPr>
          <p:cNvPr id="19" name="TextBox 18"/>
          <p:cNvSpPr txBox="1"/>
          <p:nvPr/>
        </p:nvSpPr>
        <p:spPr>
          <a:xfrm>
            <a:off x="4443984" y="4096512"/>
            <a:ext cx="3300984" cy="228600"/>
          </a:xfrm>
          <a:prstGeom prst="rect">
            <a:avLst/>
          </a:prstGeom>
          <a:noFill/>
        </p:spPr>
        <p:txBody>
          <a:bodyPr wrap="square" anchor="t" lIns="0" rIns="0" tIns="0" bIns="0">
            <a:spAutoFit/>
          </a:bodyPr>
          <a:lstStyle/>
          <a:p>
            <a:pPr algn="ctr"/>
            <a:r>
              <a:rPr sz="1200" b="0" i="0">
                <a:solidFill>
                  <a:srgbClr val="595959"/>
                </a:solidFill>
                <a:latin typeface="Calibri"/>
              </a:rPr>
              <a:t>50 pages: $0.31 total</a:t>
            </a:r>
          </a:p>
        </p:txBody>
      </p:sp>
      <p:sp>
        <p:nvSpPr>
          <p:cNvPr id="20" name="Rounded Rectangle 19"/>
          <p:cNvSpPr/>
          <p:nvPr/>
        </p:nvSpPr>
        <p:spPr>
          <a:xfrm>
            <a:off x="8129016" y="2103120"/>
            <a:ext cx="3264408" cy="237744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9016" y="2331720"/>
            <a:ext cx="3264408" cy="274320"/>
          </a:xfrm>
          <a:prstGeom prst="rect">
            <a:avLst/>
          </a:prstGeom>
          <a:noFill/>
        </p:spPr>
        <p:txBody>
          <a:bodyPr wrap="square" anchor="t" lIns="0" rIns="0" tIns="0" bIns="0">
            <a:spAutoFit/>
          </a:bodyPr>
          <a:lstStyle/>
          <a:p>
            <a:pPr algn="ctr"/>
            <a:r>
              <a:rPr sz="1500" b="1" i="0">
                <a:solidFill>
                  <a:srgbClr val="1F3864"/>
                </a:solidFill>
                <a:latin typeface="Calibri"/>
              </a:rPr>
              <a:t>Gemini 1.5 Pro</a:t>
            </a:r>
          </a:p>
        </p:txBody>
      </p:sp>
      <p:sp>
        <p:nvSpPr>
          <p:cNvPr id="22" name="TextBox 21"/>
          <p:cNvSpPr txBox="1"/>
          <p:nvPr/>
        </p:nvSpPr>
        <p:spPr>
          <a:xfrm>
            <a:off x="8129016" y="2697480"/>
            <a:ext cx="3264408" cy="731520"/>
          </a:xfrm>
          <a:prstGeom prst="rect">
            <a:avLst/>
          </a:prstGeom>
          <a:noFill/>
        </p:spPr>
        <p:txBody>
          <a:bodyPr wrap="square" anchor="t" lIns="0" rIns="0" tIns="0" bIns="0">
            <a:spAutoFit/>
          </a:bodyPr>
          <a:lstStyle/>
          <a:p>
            <a:pPr algn="ctr"/>
            <a:r>
              <a:rPr sz="4000" b="1" i="0">
                <a:solidFill>
                  <a:srgbClr val="1F3864"/>
                </a:solidFill>
                <a:latin typeface="Calibri"/>
              </a:rPr>
              <a:t>$0.005</a:t>
            </a:r>
          </a:p>
        </p:txBody>
      </p:sp>
      <p:sp>
        <p:nvSpPr>
          <p:cNvPr id="23" name="TextBox 22"/>
          <p:cNvSpPr txBox="1"/>
          <p:nvPr/>
        </p:nvSpPr>
        <p:spPr>
          <a:xfrm>
            <a:off x="8129016" y="3429000"/>
            <a:ext cx="3264408" cy="228600"/>
          </a:xfrm>
          <a:prstGeom prst="rect">
            <a:avLst/>
          </a:prstGeom>
          <a:noFill/>
        </p:spPr>
        <p:txBody>
          <a:bodyPr wrap="square" anchor="t" lIns="0" rIns="0" tIns="0" bIns="0">
            <a:spAutoFit/>
          </a:bodyPr>
          <a:lstStyle/>
          <a:p>
            <a:pPr algn="ctr"/>
            <a:r>
              <a:rPr sz="1200" b="0" i="0">
                <a:solidFill>
                  <a:srgbClr val="595959"/>
                </a:solidFill>
                <a:latin typeface="Calibri"/>
              </a:rPr>
              <a:t>per page</a:t>
            </a:r>
          </a:p>
        </p:txBody>
      </p:sp>
      <p:sp>
        <p:nvSpPr>
          <p:cNvPr id="24" name="TextBox 23"/>
          <p:cNvSpPr txBox="1"/>
          <p:nvPr/>
        </p:nvSpPr>
        <p:spPr>
          <a:xfrm>
            <a:off x="8129016" y="3767328"/>
            <a:ext cx="3264408" cy="256032"/>
          </a:xfrm>
          <a:prstGeom prst="rect">
            <a:avLst/>
          </a:prstGeom>
          <a:noFill/>
        </p:spPr>
        <p:txBody>
          <a:bodyPr wrap="square" anchor="t" lIns="0" rIns="0" tIns="0" bIns="0">
            <a:spAutoFit/>
          </a:bodyPr>
          <a:lstStyle/>
          <a:p>
            <a:pPr algn="ctr"/>
            <a:r>
              <a:rPr sz="1500" b="1" i="0">
                <a:solidFill>
                  <a:srgbClr val="404040"/>
                </a:solidFill>
                <a:latin typeface="Calibri"/>
              </a:rPr>
              <a:t>0.65 s / page</a:t>
            </a:r>
          </a:p>
        </p:txBody>
      </p:sp>
      <p:sp>
        <p:nvSpPr>
          <p:cNvPr id="25" name="TextBox 24"/>
          <p:cNvSpPr txBox="1"/>
          <p:nvPr/>
        </p:nvSpPr>
        <p:spPr>
          <a:xfrm>
            <a:off x="8129016" y="4096512"/>
            <a:ext cx="3264408" cy="228600"/>
          </a:xfrm>
          <a:prstGeom prst="rect">
            <a:avLst/>
          </a:prstGeom>
          <a:noFill/>
        </p:spPr>
        <p:txBody>
          <a:bodyPr wrap="square" anchor="t" lIns="0" rIns="0" tIns="0" bIns="0">
            <a:spAutoFit/>
          </a:bodyPr>
          <a:lstStyle/>
          <a:p>
            <a:pPr algn="ctr"/>
            <a:r>
              <a:rPr sz="1200" b="0" i="0">
                <a:solidFill>
                  <a:srgbClr val="595959"/>
                </a:solidFill>
                <a:latin typeface="Calibri"/>
              </a:rPr>
              <a:t>50 pages: $0.26 total</a:t>
            </a:r>
          </a:p>
        </p:txBody>
      </p:sp>
      <p:sp>
        <p:nvSpPr>
          <p:cNvPr id="26" name="Rectangle 25"/>
          <p:cNvSpPr/>
          <p:nvPr/>
        </p:nvSpPr>
        <p:spPr>
          <a:xfrm>
            <a:off x="758952" y="4892040"/>
            <a:ext cx="10671048" cy="7315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892040"/>
            <a:ext cx="10671048" cy="731520"/>
          </a:xfrm>
          <a:prstGeom prst="rect">
            <a:avLst/>
          </a:prstGeom>
          <a:noFill/>
        </p:spPr>
        <p:txBody>
          <a:bodyPr wrap="square" anchor="ctr" lIns="0" rIns="0" tIns="0" bIns="0">
            <a:spAutoFit/>
          </a:bodyPr>
          <a:lstStyle/>
          <a:p>
            <a:pPr algn="ctr"/>
            <a:r>
              <a:rPr sz="1500" b="1" i="0">
                <a:solidFill>
                  <a:srgbClr val="FFFFFF"/>
                </a:solidFill>
                <a:latin typeface="Calibri"/>
              </a:rPr>
              <a:t>Correction is effectively free: a 50-page document is corrected in under 80 seconds for $0.26–$0.53.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Conclusion</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What This Means</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8</a:t>
            </a:r>
          </a:p>
        </p:txBody>
      </p:sp>
      <p:sp>
        <p:nvSpPr>
          <p:cNvPr id="8" name="Rounded Rectangle 7"/>
          <p:cNvSpPr/>
          <p:nvPr/>
        </p:nvSpPr>
        <p:spPr>
          <a:xfrm>
            <a:off x="758952" y="1920240"/>
            <a:ext cx="10671048" cy="105156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600" b="1" i="0">
                <a:solidFill>
                  <a:srgbClr val="1F3864"/>
                </a:solidFill>
                <a:latin typeface="Calibri"/>
              </a:rPr>
              <a:t>93–94% characters   ·   86–91% words   </a:t>
            </a:r>
            <a:r>
              <a:rPr sz="1400" b="0" i="0">
                <a:solidFill>
                  <a:srgbClr val="404040"/>
                </a:solidFill>
                <a:latin typeface="Calibri"/>
              </a:rPr>
              <a:t>— out of the box, without fine-tuning, already above specialized HTR.</a:t>
            </a:r>
          </a:p>
        </p:txBody>
      </p:sp>
      <p:sp>
        <p:nvSpPr>
          <p:cNvPr id="9" name="Rounded Rectangle 8"/>
          <p:cNvSpPr/>
          <p:nvPr/>
        </p:nvSpPr>
        <p:spPr>
          <a:xfrm>
            <a:off x="758952" y="3154680"/>
            <a:ext cx="10671048" cy="105156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600" b="1" i="0">
                <a:solidFill>
                  <a:srgbClr val="1F3864"/>
                </a:solidFill>
                <a:latin typeface="Calibri"/>
              </a:rPr>
              <a:t>CER 1.8–6%   ·   WER 3.5–14%   </a:t>
            </a:r>
            <a:r>
              <a:rPr sz="1400" b="0" i="0">
                <a:solidFill>
                  <a:srgbClr val="404040"/>
                </a:solidFill>
                <a:latin typeface="Calibri"/>
              </a:rPr>
              <a:t>— with heterogeneous correction, reaching non-expert human level.</a:t>
            </a:r>
          </a:p>
        </p:txBody>
      </p:sp>
      <p:sp>
        <p:nvSpPr>
          <p:cNvPr id="10" name="Rounded Rectangle 9"/>
          <p:cNvSpPr/>
          <p:nvPr/>
        </p:nvSpPr>
        <p:spPr>
          <a:xfrm>
            <a:off x="758952" y="4389120"/>
            <a:ext cx="10671048" cy="105156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600" b="1" i="0">
                <a:solidFill>
                  <a:srgbClr val="1F3864"/>
                </a:solidFill>
                <a:latin typeface="Calibri"/>
              </a:rPr>
              <a:t>50× faster   ·   ~1/50 of the cost   </a:t>
            </a:r>
            <a:r>
              <a:rPr sz="1400" b="0" i="0">
                <a:solidFill>
                  <a:srgbClr val="404040"/>
                </a:solidFill>
                <a:latin typeface="Calibri"/>
              </a:rPr>
              <a:t>— no fine-tuning, no pre-processing, no technical barrier for historians.</a:t>
            </a:r>
          </a:p>
        </p:txBody>
      </p:sp>
      <p:sp>
        <p:nvSpPr>
          <p:cNvPr id="11" name="Rectangle 10"/>
          <p:cNvSpPr/>
          <p:nvPr/>
        </p:nvSpPr>
        <p:spPr>
          <a:xfrm>
            <a:off x="758952" y="5623560"/>
            <a:ext cx="10671048" cy="6858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5623560"/>
            <a:ext cx="10671048" cy="685800"/>
          </a:xfrm>
          <a:prstGeom prst="rect">
            <a:avLst/>
          </a:prstGeom>
          <a:noFill/>
        </p:spPr>
        <p:txBody>
          <a:bodyPr wrap="square" anchor="ctr" lIns="0" rIns="0" tIns="0" bIns="0">
            <a:spAutoFit/>
          </a:bodyPr>
          <a:lstStyle/>
          <a:p>
            <a:pPr algn="ctr"/>
            <a:r>
              <a:rPr sz="1400" b="1" i="0">
                <a:solidFill>
                  <a:srgbClr val="FFFFFF"/>
                </a:solidFill>
                <a:latin typeface="Calibri"/>
              </a:rPr>
              <a:t>For Digital Humanities: small and private collections can now be transcribed at scale — enabling full-text search and semantic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Limitations 1 of 2</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Limitations — Data &amp; Scope</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9</a:t>
            </a:r>
          </a:p>
        </p:txBody>
      </p:sp>
      <p:sp>
        <p:nvSpPr>
          <p:cNvPr id="8" name="Rounded Rectangle 7"/>
          <p:cNvSpPr/>
          <p:nvPr/>
        </p:nvSpPr>
        <p:spPr>
          <a:xfrm>
            <a:off x="758952" y="1874519"/>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1 · Small, narrow sample</a:t>
            </a:r>
          </a:p>
          <a:p>
            <a:pPr algn="l">
              <a:spcBef>
                <a:spcPts val="100"/>
              </a:spcBef>
            </a:pPr>
            <a:r>
              <a:rPr sz="1250" b="0" i="0">
                <a:solidFill>
                  <a:srgbClr val="404040"/>
                </a:solidFill>
                <a:latin typeface="Calibri"/>
              </a:rPr>
              <a:t>50 pages, 9,911 words, 33 hands — all 18th–19th-century English. Cannot represent other languages, periods, or writing systems.</a:t>
            </a:r>
          </a:p>
        </p:txBody>
      </p:sp>
      <p:sp>
        <p:nvSpPr>
          <p:cNvPr id="9" name="Rounded Rectangle 8"/>
          <p:cNvSpPr/>
          <p:nvPr/>
        </p:nvSpPr>
        <p:spPr>
          <a:xfrm>
            <a:off x="758952" y="2688336"/>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2 · Ground truth is not public</a:t>
            </a:r>
          </a:p>
          <a:p>
            <a:pPr algn="l">
              <a:spcBef>
                <a:spcPts val="100"/>
              </a:spcBef>
            </a:pPr>
            <a:r>
              <a:rPr sz="1250" b="0" i="0">
                <a:solidFill>
                  <a:srgbClr val="404040"/>
                </a:solidFill>
                <a:latin typeface="Calibri"/>
              </a:rPr>
              <a:t>Withheld deliberately to prevent training contamination — so results cannot be reproduced or independently verified.</a:t>
            </a:r>
          </a:p>
        </p:txBody>
      </p:sp>
      <p:sp>
        <p:nvSpPr>
          <p:cNvPr id="10" name="Rounded Rectangle 9"/>
          <p:cNvSpPr/>
          <p:nvPr/>
        </p:nvSpPr>
        <p:spPr>
          <a:xfrm>
            <a:off x="758952" y="3502152"/>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3 · Only commercial closed-source LLMs</a:t>
            </a:r>
          </a:p>
          <a:p>
            <a:pPr algn="l">
              <a:spcBef>
                <a:spcPts val="100"/>
              </a:spcBef>
            </a:pPr>
            <a:r>
              <a:rPr sz="1250" b="0" i="0">
                <a:solidFill>
                  <a:srgbClr val="404040"/>
                </a:solidFill>
                <a:latin typeface="Calibri"/>
              </a:rPr>
              <a:t>Open-source models (e.g., Llama) were not tested — low-cost or local deployment remains unproven.</a:t>
            </a:r>
          </a:p>
        </p:txBody>
      </p:sp>
      <p:sp>
        <p:nvSpPr>
          <p:cNvPr id="11" name="Rounded Rectangle 10"/>
          <p:cNvSpPr/>
          <p:nvPr/>
        </p:nvSpPr>
        <p:spPr>
          <a:xfrm>
            <a:off x="758952" y="4315968"/>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4 · Dependence on APIs</a:t>
            </a:r>
          </a:p>
          <a:p>
            <a:pPr algn="l">
              <a:spcBef>
                <a:spcPts val="100"/>
              </a:spcBef>
            </a:pPr>
            <a:r>
              <a:rPr sz="1250" b="0" i="0">
                <a:solidFill>
                  <a:srgbClr val="404040"/>
                </a:solidFill>
                <a:latin typeface="Calibri"/>
              </a:rPr>
              <a:t>Needs network, API keys, and payment; raises data-privacy, security, and vendor lock-in concerns.</a:t>
            </a:r>
          </a:p>
        </p:txBody>
      </p:sp>
      <p:sp>
        <p:nvSpPr>
          <p:cNvPr id="12" name="Rounded Rectangle 11"/>
          <p:cNvSpPr/>
          <p:nvPr/>
        </p:nvSpPr>
        <p:spPr>
          <a:xfrm>
            <a:off x="758952" y="5129783"/>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5 · Complex layouts untested</a:t>
            </a:r>
          </a:p>
          <a:p>
            <a:pPr algn="l">
              <a:spcBef>
                <a:spcPts val="100"/>
              </a:spcBef>
            </a:pPr>
            <a:r>
              <a:rPr sz="1250" b="0" i="0">
                <a:solidFill>
                  <a:srgbClr val="404040"/>
                </a:solidFill>
                <a:latin typeface="Calibri"/>
              </a:rPr>
              <a:t>Tables, multi-column pages, marginalia, and insertions were not systematically evaluated.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12064"/>
            <a:ext cx="8887968" cy="182880"/>
          </a:xfrm>
          <a:prstGeom prst="rect">
            <a:avLst/>
          </a:prstGeom>
          <a:noFill/>
        </p:spPr>
        <p:txBody>
          <a:bodyPr wrap="square" anchor="t" lIns="0" rIns="0" tIns="0" bIns="0">
            <a:spAutoFit/>
          </a:bodyPr>
          <a:lstStyle/>
          <a:p>
            <a:pPr algn="l"/>
            <a:r>
              <a:rPr sz="1200" b="1" i="0">
                <a:solidFill>
                  <a:srgbClr val="1F3864"/>
                </a:solidFill>
                <a:latin typeface="Calibri"/>
              </a:rPr>
              <a:t>Limitations 2 of 2</a:t>
            </a:r>
          </a:p>
        </p:txBody>
      </p:sp>
      <p:sp>
        <p:nvSpPr>
          <p:cNvPr id="4" name="TextBox 3"/>
          <p:cNvSpPr txBox="1"/>
          <p:nvPr/>
        </p:nvSpPr>
        <p:spPr>
          <a:xfrm>
            <a:off x="740664" y="813816"/>
            <a:ext cx="10716768" cy="457200"/>
          </a:xfrm>
          <a:prstGeom prst="rect">
            <a:avLst/>
          </a:prstGeom>
          <a:noFill/>
        </p:spPr>
        <p:txBody>
          <a:bodyPr wrap="square" anchor="t" lIns="0" rIns="0" tIns="0" bIns="0">
            <a:spAutoFit/>
          </a:bodyPr>
          <a:lstStyle/>
          <a:p>
            <a:pPr algn="l"/>
            <a:r>
              <a:rPr sz="3000" b="1" i="0">
                <a:solidFill>
                  <a:srgbClr val="1F3864"/>
                </a:solidFill>
                <a:latin typeface="Calibri"/>
              </a:rPr>
              <a:t>Limitations — Evaluation &amp; Interpretation</a:t>
            </a:r>
          </a:p>
        </p:txBody>
      </p:sp>
      <p:sp>
        <p:nvSpPr>
          <p:cNvPr id="5" name="Rectangle 4"/>
          <p:cNvSpPr/>
          <p:nvPr/>
        </p:nvSpPr>
        <p:spPr>
          <a:xfrm>
            <a:off x="758952" y="1545336"/>
            <a:ext cx="1399032" cy="365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6428232"/>
            <a:ext cx="8129016" cy="155448"/>
          </a:xfrm>
          <a:prstGeom prst="rect">
            <a:avLst/>
          </a:prstGeom>
          <a:noFill/>
        </p:spPr>
        <p:txBody>
          <a:bodyPr wrap="square" anchor="t" lIns="0" rIns="0" tIns="0" bIns="0">
            <a:spAutoFit/>
          </a:bodyPr>
          <a:lstStyle/>
          <a:p>
            <a:pPr algn="l"/>
            <a:r>
              <a:rPr sz="1000" b="0" i="0">
                <a:solidFill>
                  <a:srgbClr val="595959"/>
                </a:solidFill>
                <a:latin typeface="Calibri"/>
              </a:rPr>
              <a:t>DHG 502  |  Digital Approaches in Historical Research  |  Week 6  |  Part 3</a:t>
            </a:r>
          </a:p>
        </p:txBody>
      </p:sp>
      <p:sp>
        <p:nvSpPr>
          <p:cNvPr id="7" name="TextBox 6"/>
          <p:cNvSpPr txBox="1"/>
          <p:nvPr/>
        </p:nvSpPr>
        <p:spPr>
          <a:xfrm>
            <a:off x="10917936" y="6428232"/>
            <a:ext cx="512064" cy="155448"/>
          </a:xfrm>
          <a:prstGeom prst="rect">
            <a:avLst/>
          </a:prstGeom>
          <a:noFill/>
        </p:spPr>
        <p:txBody>
          <a:bodyPr wrap="square" anchor="t" lIns="0" rIns="0" tIns="0" bIns="0">
            <a:spAutoFit/>
          </a:bodyPr>
          <a:lstStyle/>
          <a:p>
            <a:pPr algn="r"/>
            <a:r>
              <a:rPr sz="1000" b="0" i="0">
                <a:solidFill>
                  <a:srgbClr val="595959"/>
                </a:solidFill>
                <a:latin typeface="Calibri"/>
              </a:rPr>
              <a:t>10</a:t>
            </a:r>
          </a:p>
        </p:txBody>
      </p:sp>
      <p:sp>
        <p:nvSpPr>
          <p:cNvPr id="8" name="Rounded Rectangle 7"/>
          <p:cNvSpPr/>
          <p:nvPr/>
        </p:nvSpPr>
        <p:spPr>
          <a:xfrm>
            <a:off x="758952" y="1874519"/>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1 · Metrics are narrow</a:t>
            </a:r>
          </a:p>
          <a:p>
            <a:pPr algn="l">
              <a:spcBef>
                <a:spcPts val="100"/>
              </a:spcBef>
            </a:pPr>
            <a:r>
              <a:rPr sz="1250" b="0" i="0">
                <a:solidFill>
                  <a:srgbClr val="404040"/>
                </a:solidFill>
                <a:latin typeface="Calibri"/>
              </a:rPr>
              <a:t>CER/WER only measure string edit distance — they miss layout errors, reading-order mistakes, hallucinated text, and misplaced marginalia.</a:t>
            </a:r>
          </a:p>
        </p:txBody>
      </p:sp>
      <p:sp>
        <p:nvSpPr>
          <p:cNvPr id="9" name="Rounded Rectangle 8"/>
          <p:cNvSpPr/>
          <p:nvPr/>
        </p:nvSpPr>
        <p:spPr>
          <a:xfrm>
            <a:off x="758952" y="2688336"/>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2 · Historical authenticity at risk</a:t>
            </a:r>
          </a:p>
          <a:p>
            <a:pPr algn="l">
              <a:spcBef>
                <a:spcPts val="100"/>
              </a:spcBef>
            </a:pPr>
            <a:r>
              <a:rPr sz="1250" b="0" i="0">
                <a:solidFill>
                  <a:srgbClr val="404040"/>
                </a:solidFill>
                <a:latin typeface="Calibri"/>
              </a:rPr>
              <a:t>LLMs standardize spelling, punctuation, and capitalization; strict-metric error rates remain high.</a:t>
            </a:r>
          </a:p>
        </p:txBody>
      </p:sp>
      <p:sp>
        <p:nvSpPr>
          <p:cNvPr id="10" name="Rounded Rectangle 9"/>
          <p:cNvSpPr/>
          <p:nvPr/>
        </p:nvSpPr>
        <p:spPr>
          <a:xfrm>
            <a:off x="758952" y="3502152"/>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3 · Self-correction does not work</a:t>
            </a:r>
          </a:p>
          <a:p>
            <a:pPr algn="l">
              <a:spcBef>
                <a:spcPts val="100"/>
              </a:spcBef>
            </a:pPr>
            <a:r>
              <a:rPr sz="1250" b="0" i="0">
                <a:solidFill>
                  <a:srgbClr val="404040"/>
                </a:solidFill>
                <a:latin typeface="Calibri"/>
              </a:rPr>
              <a:t>Benefits require heterogeneous model pairs — adding complexity and cost to the workflow.</a:t>
            </a:r>
          </a:p>
        </p:txBody>
      </p:sp>
      <p:sp>
        <p:nvSpPr>
          <p:cNvPr id="11" name="Rounded Rectangle 10"/>
          <p:cNvSpPr/>
          <p:nvPr/>
        </p:nvSpPr>
        <p:spPr>
          <a:xfrm>
            <a:off x="758952" y="4315968"/>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4 · Training-data contamination</a:t>
            </a:r>
          </a:p>
          <a:p>
            <a:pPr algn="l">
              <a:spcBef>
                <a:spcPts val="100"/>
              </a:spcBef>
            </a:pPr>
            <a:r>
              <a:rPr sz="1250" b="0" i="0">
                <a:solidFill>
                  <a:srgbClr val="404040"/>
                </a:solidFill>
                <a:latin typeface="Calibri"/>
              </a:rPr>
              <a:t>Gemini's "recitation" refusals suggest public collections were in training data — accuracy on public material may be inflated.</a:t>
            </a:r>
          </a:p>
        </p:txBody>
      </p:sp>
      <p:sp>
        <p:nvSpPr>
          <p:cNvPr id="12" name="Rounded Rectangle 11"/>
          <p:cNvSpPr/>
          <p:nvPr/>
        </p:nvSpPr>
        <p:spPr>
          <a:xfrm>
            <a:off x="758952" y="5129783"/>
            <a:ext cx="10671048" cy="749808"/>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350" b="1" i="0">
                <a:solidFill>
                  <a:srgbClr val="1F3864"/>
                </a:solidFill>
                <a:latin typeface="Calibri"/>
              </a:rPr>
              <a:t>5 · The benchmark itself is imperfect</a:t>
            </a:r>
          </a:p>
          <a:p>
            <a:pPr algn="l">
              <a:spcBef>
                <a:spcPts val="100"/>
              </a:spcBef>
            </a:pPr>
            <a:r>
              <a:rPr sz="1250" b="0" i="0">
                <a:solidFill>
                  <a:srgbClr val="404040"/>
                </a:solidFill>
                <a:latin typeface="Calibri"/>
              </a:rPr>
              <a:t>Human transcriptions contain errors, so the CER/WER ground truth is not absolutely reliable.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2801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952" y="1901952"/>
            <a:ext cx="73152" cy="317296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2148840"/>
            <a:ext cx="9902952" cy="219456"/>
          </a:xfrm>
          <a:prstGeom prst="rect">
            <a:avLst/>
          </a:prstGeom>
          <a:noFill/>
        </p:spPr>
        <p:txBody>
          <a:bodyPr wrap="square" anchor="t" lIns="0" rIns="0" tIns="0" bIns="0">
            <a:spAutoFit/>
          </a:bodyPr>
          <a:lstStyle/>
          <a:p>
            <a:pPr algn="l"/>
            <a:r>
              <a:rPr sz="1400" b="0" i="0">
                <a:solidFill>
                  <a:srgbClr val="595959"/>
                </a:solidFill>
                <a:latin typeface="Calibri"/>
              </a:rPr>
              <a:t>DHG 502  -  Digital Approaches in Historical Research</a:t>
            </a:r>
          </a:p>
        </p:txBody>
      </p:sp>
      <p:sp>
        <p:nvSpPr>
          <p:cNvPr id="5" name="TextBox 4"/>
          <p:cNvSpPr txBox="1"/>
          <p:nvPr/>
        </p:nvSpPr>
        <p:spPr>
          <a:xfrm>
            <a:off x="1115568" y="2560320"/>
            <a:ext cx="10158984" cy="960120"/>
          </a:xfrm>
          <a:prstGeom prst="rect">
            <a:avLst/>
          </a:prstGeom>
          <a:noFill/>
        </p:spPr>
        <p:txBody>
          <a:bodyPr wrap="square" anchor="t" lIns="0" rIns="0" tIns="0" bIns="0">
            <a:spAutoFit/>
          </a:bodyPr>
          <a:lstStyle/>
          <a:p>
            <a:pPr algn="l"/>
            <a:r>
              <a:rPr sz="5400" b="1" i="0">
                <a:solidFill>
                  <a:srgbClr val="1F3864"/>
                </a:solidFill>
                <a:latin typeface="Calibri"/>
              </a:rPr>
              <a:t>Thank You</a:t>
            </a:r>
          </a:p>
        </p:txBody>
      </p:sp>
      <p:sp>
        <p:nvSpPr>
          <p:cNvPr id="6" name="TextBox 5"/>
          <p:cNvSpPr txBox="1"/>
          <p:nvPr/>
        </p:nvSpPr>
        <p:spPr>
          <a:xfrm>
            <a:off x="1143000" y="3657600"/>
            <a:ext cx="10158984" cy="365760"/>
          </a:xfrm>
          <a:prstGeom prst="rect">
            <a:avLst/>
          </a:prstGeom>
          <a:noFill/>
        </p:spPr>
        <p:txBody>
          <a:bodyPr wrap="square" anchor="t" lIns="0" rIns="0" tIns="0" bIns="0">
            <a:spAutoFit/>
          </a:bodyPr>
          <a:lstStyle/>
          <a:p>
            <a:pPr algn="l"/>
            <a:r>
              <a:rPr sz="2200" b="0" i="0">
                <a:solidFill>
                  <a:srgbClr val="404040"/>
                </a:solidFill>
                <a:latin typeface="Calibri"/>
              </a:rPr>
              <a:t>Questions &amp; Discussion</a:t>
            </a:r>
          </a:p>
        </p:txBody>
      </p:sp>
      <p:sp>
        <p:nvSpPr>
          <p:cNvPr id="7" name="Rounded Rectangle 6"/>
          <p:cNvSpPr/>
          <p:nvPr/>
        </p:nvSpPr>
        <p:spPr>
          <a:xfrm>
            <a:off x="1143000" y="4343400"/>
            <a:ext cx="9902952" cy="960120"/>
          </a:xfrm>
          <a:prstGeom prst="roundRect">
            <a:avLst>
              <a:gd name="adj" fmla="val 10000"/>
            </a:avLst>
          </a:prstGeom>
          <a:solidFill>
            <a:srgbClr val="EAF0F8"/>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500" b="1" i="0">
                <a:solidFill>
                  <a:srgbClr val="1F3864"/>
                </a:solidFill>
                <a:latin typeface="Calibri"/>
              </a:rPr>
              <a:t>Fast, cheap and near-human   </a:t>
            </a:r>
            <a:r>
              <a:rPr sz="1400" b="0" i="0">
                <a:solidFill>
                  <a:srgbClr val="404040"/>
                </a:solidFill>
                <a:latin typeface="Calibri"/>
              </a:rPr>
              <a:t>— on a small English sample, with an unverifiable ground truth, and not yet tested on complex documents.</a:t>
            </a:r>
          </a:p>
        </p:txBody>
      </p:sp>
      <p:sp>
        <p:nvSpPr>
          <p:cNvPr id="8" name="TextBox 7"/>
          <p:cNvSpPr txBox="1"/>
          <p:nvPr/>
        </p:nvSpPr>
        <p:spPr>
          <a:xfrm>
            <a:off x="1143000" y="5971032"/>
            <a:ext cx="10158984" cy="201168"/>
          </a:xfrm>
          <a:prstGeom prst="rect">
            <a:avLst/>
          </a:prstGeom>
          <a:noFill/>
        </p:spPr>
        <p:txBody>
          <a:bodyPr wrap="square" anchor="t" lIns="0" rIns="0" tIns="0" bIns="0">
            <a:spAutoFit/>
          </a:bodyPr>
          <a:lstStyle/>
          <a:p>
            <a:pPr algn="l"/>
            <a:r>
              <a:rPr sz="1300" b="0" i="0">
                <a:solidFill>
                  <a:srgbClr val="595959"/>
                </a:solidFill>
                <a:latin typeface="Calibri"/>
              </a:rPr>
              <a:t>Eric, CiCi, Ally</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1199</Words>
  <Application>Microsoft Office PowerPoint</Application>
  <PresentationFormat>宽屏</PresentationFormat>
  <Paragraphs>84</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等线</vt:lpstr>
      <vt:lpstr>等线 Light</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DHG502 Part 3 — Results, Conclusions &amp; Limitations</dc:title>
  <dc:creator>chenyang liu</dc:creator>
  <cp:lastModifiedBy>chenyang liu</cp:lastModifiedBy>
  <cp:revision>3</cp:revision>
  <dcterms:created xsi:type="dcterms:W3CDTF">2026-10-09T07:53:55Z</dcterms:created>
  <dcterms:modified xsi:type="dcterms:W3CDTF">2026-10-09T13:32:22Z</dcterms:modified>
</cp:coreProperties>
</file>