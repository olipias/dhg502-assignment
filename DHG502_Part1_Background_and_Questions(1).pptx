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381"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7D2065-4AAB-4112-A614-A777BD858A6F}" type="datetimeFigureOut">
              <a:rPr lang="zh-CN" altLang="en-US" smtClean="0"/>
              <a:t>2026/10/9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A231F-4D8B-4A0F-A501-73B1AC6AE6D3}" type="slidenum">
              <a:rPr lang="zh-CN" altLang="en-US" smtClean="0"/>
              <a:t>‹#›</a:t>
            </a:fld>
            <a:endParaRPr lang="zh-CN" altLang="en-US"/>
          </a:p>
        </p:txBody>
      </p:sp>
    </p:spTree>
    <p:extLst>
      <p:ext uri="{BB962C8B-B14F-4D97-AF65-F5344CB8AC3E}">
        <p14:creationId xmlns:p14="http://schemas.microsoft.com/office/powerpoint/2010/main" val="161296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銆怬</a:t>
            </a:r>
            <a:r>
              <a:rPr lang="en-US" altLang="zh-CN"/>
              <a:t>pening 0:00-0:30</a:t>
            </a:r>
            <a:r>
              <a:rPr lang="zh-CN" altLang="en-US"/>
              <a:t>銆</a:t>
            </a:r>
            <a:r>
              <a:rPr lang="en-US" altLang="zh-CN"/>
              <a:t>?Good evening, everyone. We are presenting "Unlocking the Archives."
Our paper asks one simple question: can today's general-purpose AI models read old
handwriting better than dedicated software? The answer is yes.
General multimodal LLMs -- GPT-4o, Claude, and Gemini -- transcribe 18th- and
19th-century English handwritten documents out of the box, beating the specialist
HTR software Transkribus -- roughly fifty times faster and fifty times cheaper.
This is Humphries et al., 2025, in Historical Methods.</a:t>
            </a:r>
            <a:endParaRPr lang="zh-CN" altLang="en-US"/>
          </a:p>
        </p:txBody>
      </p:sp>
      <p:sp>
        <p:nvSpPr>
          <p:cNvPr id="4" name="灯片编号占位符 3"/>
          <p:cNvSpPr>
            <a:spLocks noGrp="1"/>
          </p:cNvSpPr>
          <p:nvPr>
            <p:ph type="sldNum" sz="quarter" idx="5"/>
          </p:nvPr>
        </p:nvSpPr>
        <p:spPr/>
        <p:txBody>
          <a:bodyPr/>
          <a:lstStyle/>
          <a:p>
            <a:fld id="{46AA231F-4D8B-4A0F-A501-73B1AC6AE6D3}" type="slidenum">
              <a:rPr lang="zh-CN" altLang="en-US" smtClean="0"/>
              <a:t>1</a:t>
            </a:fld>
            <a:endParaRPr lang="zh-CN" altLang="en-US"/>
          </a:p>
        </p:txBody>
      </p:sp>
    </p:spTree>
    <p:extLst>
      <p:ext uri="{BB962C8B-B14F-4D97-AF65-F5344CB8AC3E}">
        <p14:creationId xmlns:p14="http://schemas.microsoft.com/office/powerpoint/2010/main" val="4066817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銆怰</a:t>
            </a:r>
            <a:r>
              <a:rPr lang="en-US" altLang="zh-CN"/>
              <a:t>oadmap 0:30-0:50</a:t>
            </a:r>
            <a:r>
              <a:rPr lang="zh-CN" altLang="en-US"/>
              <a:t>銆</a:t>
            </a:r>
            <a:r>
              <a:rPr lang="en-US" altLang="zh-CN"/>
              <a:t>?A quick roadmap. Our presentation has three parts.
Part 1, mine, is the background and the research question.
Part 2 covers the method and experiment design.
Part 3 presents the results, the conclusions, and the limitations.</a:t>
            </a:r>
            <a:endParaRPr lang="zh-CN" altLang="en-US"/>
          </a:p>
        </p:txBody>
      </p:sp>
      <p:sp>
        <p:nvSpPr>
          <p:cNvPr id="4" name="灯片编号占位符 3"/>
          <p:cNvSpPr>
            <a:spLocks noGrp="1"/>
          </p:cNvSpPr>
          <p:nvPr>
            <p:ph type="sldNum" sz="quarter" idx="5"/>
          </p:nvPr>
        </p:nvSpPr>
        <p:spPr/>
        <p:txBody>
          <a:bodyPr/>
          <a:lstStyle/>
          <a:p>
            <a:fld id="{46AA231F-4D8B-4A0F-A501-73B1AC6AE6D3}" type="slidenum">
              <a:rPr lang="zh-CN" altLang="en-US" smtClean="0"/>
              <a:t>2</a:t>
            </a:fld>
            <a:endParaRPr lang="zh-CN" altLang="en-US"/>
          </a:p>
        </p:txBody>
      </p:sp>
    </p:spTree>
    <p:extLst>
      <p:ext uri="{BB962C8B-B14F-4D97-AF65-F5344CB8AC3E}">
        <p14:creationId xmlns:p14="http://schemas.microsoft.com/office/powerpoint/2010/main" val="1977775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銆怘</a:t>
            </a:r>
            <a:r>
              <a:rPr lang="en-US" altLang="zh-CN"/>
              <a:t>TR 0:50-2:00</a:t>
            </a:r>
            <a:r>
              <a:rPr lang="zh-CN" altLang="en-US"/>
              <a:t>銆</a:t>
            </a:r>
            <a:r>
              <a:rPr lang="en-US" altLang="zh-CN"/>
              <a:t>?Let me start with the problem. Two terms matter here: OCR and HTR.
OCR, Optical Character Recognition, reads printed text.
HTR, Handwritten Text Recognition, reads handwriting -- and handwriting is far harder.
Why? Every person's hand is unique, cursive scripts are inconsistent, and character
shapes and spacing vary enormously. Add paper decay, fading ink, blurry phone photos,
and poor microfilm. There is no single "correct" handwriting to learn.
So the real challenge of HTR is generalization: the ability to read a hand it has
never seen before.</a:t>
            </a:r>
            <a:endParaRPr lang="zh-CN" altLang="en-US"/>
          </a:p>
        </p:txBody>
      </p:sp>
      <p:sp>
        <p:nvSpPr>
          <p:cNvPr id="4" name="灯片编号占位符 3"/>
          <p:cNvSpPr>
            <a:spLocks noGrp="1"/>
          </p:cNvSpPr>
          <p:nvPr>
            <p:ph type="sldNum" sz="quarter" idx="5"/>
          </p:nvPr>
        </p:nvSpPr>
        <p:spPr/>
        <p:txBody>
          <a:bodyPr/>
          <a:lstStyle/>
          <a:p>
            <a:fld id="{46AA231F-4D8B-4A0F-A501-73B1AC6AE6D3}" type="slidenum">
              <a:rPr lang="zh-CN" altLang="en-US" smtClean="0"/>
              <a:t>3</a:t>
            </a:fld>
            <a:endParaRPr lang="zh-CN" altLang="en-US"/>
          </a:p>
        </p:txBody>
      </p:sp>
    </p:spTree>
    <p:extLst>
      <p:ext uri="{BB962C8B-B14F-4D97-AF65-F5344CB8AC3E}">
        <p14:creationId xmlns:p14="http://schemas.microsoft.com/office/powerpoint/2010/main" val="1496600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銆怲</a:t>
            </a:r>
            <a:r>
              <a:rPr lang="en-US" altLang="zh-CN"/>
              <a:t>ranskribus 2:00-3:30</a:t>
            </a:r>
            <a:r>
              <a:rPr lang="zh-CN" altLang="en-US"/>
              <a:t>銆</a:t>
            </a:r>
            <a:r>
              <a:rPr lang="en-US" altLang="zh-CN"/>
              <a:t>?So why does this not work in practice? Transkribus has three limits.
First, fine-tuning. To improve accuracy, you must first produce perfect "ground-truth"
transcriptions of at least seventy-five handwritten pages -- roughly fifteen thousand
words. That is expensive, slow, and technically demanding for most historians.
Second, cost and speed. About twenty-seven cents per page. Processing takes fifteen to
twenty minutes, and requests can queue for a day or more.
Third, overfitting. Fine-tuning makes the model better on one specific hand, but often
worse on the hands it has not seen -- so it must be repeated for every new hand.
The authors' conclusion is blunt: for most historians, HTR remains "tantalizing but
impractical."</a:t>
            </a:r>
            <a:endParaRPr lang="zh-CN" altLang="en-US"/>
          </a:p>
        </p:txBody>
      </p:sp>
      <p:sp>
        <p:nvSpPr>
          <p:cNvPr id="4" name="灯片编号占位符 3"/>
          <p:cNvSpPr>
            <a:spLocks noGrp="1"/>
          </p:cNvSpPr>
          <p:nvPr>
            <p:ph type="sldNum" sz="quarter" idx="5"/>
          </p:nvPr>
        </p:nvSpPr>
        <p:spPr/>
        <p:txBody>
          <a:bodyPr/>
          <a:lstStyle/>
          <a:p>
            <a:fld id="{46AA231F-4D8B-4A0F-A501-73B1AC6AE6D3}" type="slidenum">
              <a:rPr lang="zh-CN" altLang="en-US" smtClean="0"/>
              <a:t>4</a:t>
            </a:fld>
            <a:endParaRPr lang="zh-CN" altLang="en-US"/>
          </a:p>
        </p:txBody>
      </p:sp>
    </p:spTree>
    <p:extLst>
      <p:ext uri="{BB962C8B-B14F-4D97-AF65-F5344CB8AC3E}">
        <p14:creationId xmlns:p14="http://schemas.microsoft.com/office/powerpoint/2010/main" val="2086322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銆怶</a:t>
            </a:r>
            <a:r>
              <a:rPr lang="en-US" altLang="zh-CN"/>
              <a:t>orkflow 3:30-4:00</a:t>
            </a:r>
            <a:r>
              <a:rPr lang="zh-CN" altLang="en-US"/>
              <a:t>銆</a:t>
            </a:r>
            <a:r>
              <a:rPr lang="en-US" altLang="zh-CN"/>
              <a:t>?Here is the key contrast. On the left, the traditional HTR workflow: pre-processing,
then segmentation, then feature extraction and classification, and only then a
transcription. Multiple fragile stages.
On the right, the LLM workflow: give the image straight to a multimodal LLM through an
API, and get a transcription back. It skips pre-processing and segmentation entirely,
and needs no fine-tuning.</a:t>
            </a:r>
            <a:endParaRPr lang="zh-CN" altLang="en-US"/>
          </a:p>
        </p:txBody>
      </p:sp>
      <p:sp>
        <p:nvSpPr>
          <p:cNvPr id="4" name="灯片编号占位符 3"/>
          <p:cNvSpPr>
            <a:spLocks noGrp="1"/>
          </p:cNvSpPr>
          <p:nvPr>
            <p:ph type="sldNum" sz="quarter" idx="5"/>
          </p:nvPr>
        </p:nvSpPr>
        <p:spPr/>
        <p:txBody>
          <a:bodyPr/>
          <a:lstStyle/>
          <a:p>
            <a:fld id="{46AA231F-4D8B-4A0F-A501-73B1AC6AE6D3}" type="slidenum">
              <a:rPr lang="zh-CN" altLang="en-US" smtClean="0"/>
              <a:t>5</a:t>
            </a:fld>
            <a:endParaRPr lang="zh-CN" altLang="en-US"/>
          </a:p>
        </p:txBody>
      </p:sp>
    </p:spTree>
    <p:extLst>
      <p:ext uri="{BB962C8B-B14F-4D97-AF65-F5344CB8AC3E}">
        <p14:creationId xmlns:p14="http://schemas.microsoft.com/office/powerpoint/2010/main" val="3335506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銆怰</a:t>
            </a:r>
            <a:r>
              <a:rPr lang="en-US" altLang="zh-CN"/>
              <a:t>esearch Question 4:00-4:20</a:t>
            </a:r>
            <a:r>
              <a:rPr lang="zh-CN" altLang="en-US"/>
              <a:t>銆</a:t>
            </a:r>
            <a:r>
              <a:rPr lang="en-US" altLang="zh-CN"/>
              <a:t>?So here is the research question. Can multimodal LLMs transcribe historical handwriting
out of the box -- without fine-tuning and without pre-processing -- matching or beating
specialized HTR? And a sub-question: can they also correct transcriptions, both from
other models and from HTR software?</a:t>
            </a:r>
            <a:endParaRPr lang="zh-CN" altLang="en-US"/>
          </a:p>
        </p:txBody>
      </p:sp>
      <p:sp>
        <p:nvSpPr>
          <p:cNvPr id="4" name="灯片编号占位符 3"/>
          <p:cNvSpPr>
            <a:spLocks noGrp="1"/>
          </p:cNvSpPr>
          <p:nvPr>
            <p:ph type="sldNum" sz="quarter" idx="5"/>
          </p:nvPr>
        </p:nvSpPr>
        <p:spPr/>
        <p:txBody>
          <a:bodyPr/>
          <a:lstStyle/>
          <a:p>
            <a:fld id="{46AA231F-4D8B-4A0F-A501-73B1AC6AE6D3}" type="slidenum">
              <a:rPr lang="zh-CN" altLang="en-US" smtClean="0"/>
              <a:t>6</a:t>
            </a:fld>
            <a:endParaRPr lang="zh-CN" altLang="en-US"/>
          </a:p>
        </p:txBody>
      </p:sp>
    </p:spTree>
    <p:extLst>
      <p:ext uri="{BB962C8B-B14F-4D97-AF65-F5344CB8AC3E}">
        <p14:creationId xmlns:p14="http://schemas.microsoft.com/office/powerpoint/2010/main" val="1935819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銆怌</a:t>
            </a:r>
            <a:r>
              <a:rPr lang="en-US" altLang="zh-CN"/>
              <a:t>ontributions 4:20-5:00</a:t>
            </a:r>
            <a:r>
              <a:rPr lang="zh-CN" altLang="en-US"/>
              <a:t>銆</a:t>
            </a:r>
            <a:r>
              <a:rPr lang="en-US" altLang="zh-CN"/>
              <a:t>?The paper makes three contributions.
First, a tool: Transcription Pearl, an open-source Python tool that calls commercial
multimodal LLMs through their APIs to batch-transcribe and correct documents.
Second, a dataset: a real-world test set of fifty pages, nine thousand nine hundred and
eleven words, and thirty-three different hands, in 18th- and 19th-century English.
Crucially, it was never published, to avoid contaminating the models' training data.
Third, a comparison: the first systematic comparison of LLMs against Transkribus on
historical handwriting -- and it shows a different model can correct a first model's errors.
No fine-tuning, no pre-processing, fifty times faster and cheaper.
That is the background and the question. To explain how they tested it, let me hand over
to [next speaker].</a:t>
            </a:r>
            <a:endParaRPr lang="zh-CN" altLang="en-US"/>
          </a:p>
        </p:txBody>
      </p:sp>
      <p:sp>
        <p:nvSpPr>
          <p:cNvPr id="4" name="灯片编号占位符 3"/>
          <p:cNvSpPr>
            <a:spLocks noGrp="1"/>
          </p:cNvSpPr>
          <p:nvPr>
            <p:ph type="sldNum" sz="quarter" idx="5"/>
          </p:nvPr>
        </p:nvSpPr>
        <p:spPr/>
        <p:txBody>
          <a:bodyPr/>
          <a:lstStyle/>
          <a:p>
            <a:fld id="{46AA231F-4D8B-4A0F-A501-73B1AC6AE6D3}" type="slidenum">
              <a:rPr lang="zh-CN" altLang="en-US" smtClean="0"/>
              <a:t>7</a:t>
            </a:fld>
            <a:endParaRPr lang="zh-CN" altLang="en-US"/>
          </a:p>
        </p:txBody>
      </p:sp>
    </p:spTree>
    <p:extLst>
      <p:ext uri="{BB962C8B-B14F-4D97-AF65-F5344CB8AC3E}">
        <p14:creationId xmlns:p14="http://schemas.microsoft.com/office/powerpoint/2010/main" val="3575821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ECF61D-D85B-0E21-5950-2600F61E2F3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B22FCE8-F154-9B57-2ADD-DBA3B02796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47B7FA5-A17E-ED4E-66A8-E48274A9EF74}"/>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5" name="页脚占位符 4">
            <a:extLst>
              <a:ext uri="{FF2B5EF4-FFF2-40B4-BE49-F238E27FC236}">
                <a16:creationId xmlns:a16="http://schemas.microsoft.com/office/drawing/2014/main" id="{A1FCFECF-2CE5-3C67-2C46-0D14D7BE577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C7739A6-8E3E-17F6-ACB4-535E8F55C474}"/>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2409437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40F38F-60FE-BF04-418D-22EB700B720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7E9ECFE-3B37-51FA-A6BA-02063A3165A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6CA15B-1A2E-D4F1-AE81-7252E4E006F0}"/>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5" name="页脚占位符 4">
            <a:extLst>
              <a:ext uri="{FF2B5EF4-FFF2-40B4-BE49-F238E27FC236}">
                <a16:creationId xmlns:a16="http://schemas.microsoft.com/office/drawing/2014/main" id="{DB93EEA2-BFB4-82EE-F2E6-1E5464A709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9462C1D-1B0C-3819-693B-23E73E0C5D1F}"/>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2970469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FAA018-A87C-2B97-7512-F35F2B3B3FB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4D7E000-03BA-A66C-291B-CB8152A9B3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83FD94F-D4C0-CA14-C127-40AB9181A600}"/>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5" name="页脚占位符 4">
            <a:extLst>
              <a:ext uri="{FF2B5EF4-FFF2-40B4-BE49-F238E27FC236}">
                <a16:creationId xmlns:a16="http://schemas.microsoft.com/office/drawing/2014/main" id="{B703BA73-5D5D-8637-0E21-792DC1F5670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411556-A954-985A-1189-6ED266C8C8A9}"/>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3137878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53E659-C1F4-657F-6490-724C355F758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FF23A1-3733-5FFF-30D8-DF68F8FD054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5DE1464-921F-EC23-8A48-309AA186DEC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49056F0-73B6-636D-083C-4EDDDB0DF91C}"/>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6" name="页脚占位符 5">
            <a:extLst>
              <a:ext uri="{FF2B5EF4-FFF2-40B4-BE49-F238E27FC236}">
                <a16:creationId xmlns:a16="http://schemas.microsoft.com/office/drawing/2014/main" id="{76E3A567-AB96-12B5-EC7D-E680E5301CF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6ECC76-201F-9ED1-EA96-341108883454}"/>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3336384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DBE3D-F348-8BFC-A41A-AE43DD2390D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7C7487A-0223-EF47-E726-D76B6140E9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B65514C-ACE1-F028-16EA-794D7E04990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9683DEF-5029-E07F-1336-3B643B0CB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EC96933-272A-3C05-83F0-408EB47B18F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380342F-0AD9-900F-ACE6-968863954583}"/>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8" name="页脚占位符 7">
            <a:extLst>
              <a:ext uri="{FF2B5EF4-FFF2-40B4-BE49-F238E27FC236}">
                <a16:creationId xmlns:a16="http://schemas.microsoft.com/office/drawing/2014/main" id="{09B503E6-9794-0D64-A391-17D8AED9A90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31BA6AC-F28C-C8FE-8209-BF9634416E5C}"/>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1417478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F6F79E-E3AC-833C-009F-C52B3ED5931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EB4519B-1A47-B76A-2602-DFDFFEE64637}"/>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4" name="页脚占位符 3">
            <a:extLst>
              <a:ext uri="{FF2B5EF4-FFF2-40B4-BE49-F238E27FC236}">
                <a16:creationId xmlns:a16="http://schemas.microsoft.com/office/drawing/2014/main" id="{20195810-2018-FDD4-A9B2-47F917CB5A8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D0AB936-4BFF-E1B5-9FD1-16F417CCF4CD}"/>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3184287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58ECC21-B0AC-DBBD-F240-AD68084F9F34}"/>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3" name="页脚占位符 2">
            <a:extLst>
              <a:ext uri="{FF2B5EF4-FFF2-40B4-BE49-F238E27FC236}">
                <a16:creationId xmlns:a16="http://schemas.microsoft.com/office/drawing/2014/main" id="{5ABA7802-24A8-6DB7-7251-E41D335466F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CB1633F-9D8D-5D82-87D3-6CC1BE0EFC58}"/>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628746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E6E425-956F-72FA-D2B6-343D5FB404F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087C415-E509-2910-9CD6-CDAD1E6D29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233241D-0FF4-DB04-5DB5-F37D82E2B1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C2FFBC9-910F-89F2-6E5F-0FA182174E1D}"/>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6" name="页脚占位符 5">
            <a:extLst>
              <a:ext uri="{FF2B5EF4-FFF2-40B4-BE49-F238E27FC236}">
                <a16:creationId xmlns:a16="http://schemas.microsoft.com/office/drawing/2014/main" id="{6B4C3031-82F9-3834-14FD-BC455FD1BD0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3250CE0-314A-3E3A-B5D1-DD0CCDACA0E9}"/>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3185145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0530E9-D084-B389-5ACF-F1365EA96A6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76E9CB9-5385-9A49-B9A6-32B5EFF676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8781D06-6890-63C2-7A9C-FEFCCC8281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164C24C-24AA-7EFB-29A7-980A04C80FDE}"/>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6" name="页脚占位符 5">
            <a:extLst>
              <a:ext uri="{FF2B5EF4-FFF2-40B4-BE49-F238E27FC236}">
                <a16:creationId xmlns:a16="http://schemas.microsoft.com/office/drawing/2014/main" id="{8D5E95CF-D8CB-1BA7-D2D8-82909F582B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AF6CB18-1118-AC1A-6B34-7CA5738C2993}"/>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1110359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ACE8B6-840F-5A91-81E5-6F408360EDF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C5833E6-C9D2-BB9F-B21D-8C47FDD3555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47AD6CB-A84F-AB54-365E-7C4E4610147E}"/>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5" name="页脚占位符 4">
            <a:extLst>
              <a:ext uri="{FF2B5EF4-FFF2-40B4-BE49-F238E27FC236}">
                <a16:creationId xmlns:a16="http://schemas.microsoft.com/office/drawing/2014/main" id="{C81EC323-3D7A-3AFE-6279-7F55E204C9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F83D3A-3E0B-5A55-F031-32A5FEA9B116}"/>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3924233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B471F70-CF8E-5161-6B12-5B278ACFD9B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0D1FF2D-B1F4-5AC9-4363-959DC5C35D5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CE3C1B-BA44-257B-FBCA-FF8CFA483943}"/>
              </a:ext>
            </a:extLst>
          </p:cNvPr>
          <p:cNvSpPr>
            <a:spLocks noGrp="1"/>
          </p:cNvSpPr>
          <p:nvPr>
            <p:ph type="dt" sz="half" idx="10"/>
          </p:nvPr>
        </p:nvSpPr>
        <p:spPr/>
        <p:txBody>
          <a:bodyPr/>
          <a:lstStyle/>
          <a:p>
            <a:fld id="{6CE2DEEE-334A-4AE7-8971-90CB162C351E}" type="datetimeFigureOut">
              <a:rPr lang="zh-CN" altLang="en-US" smtClean="0"/>
              <a:t>2026/10/9</a:t>
            </a:fld>
            <a:endParaRPr lang="zh-CN" altLang="en-US"/>
          </a:p>
        </p:txBody>
      </p:sp>
      <p:sp>
        <p:nvSpPr>
          <p:cNvPr id="5" name="页脚占位符 4">
            <a:extLst>
              <a:ext uri="{FF2B5EF4-FFF2-40B4-BE49-F238E27FC236}">
                <a16:creationId xmlns:a16="http://schemas.microsoft.com/office/drawing/2014/main" id="{2F3CDCBB-1F3A-D20A-079F-E7DD046BA6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8DEBF4-D34B-AD09-E377-70B343DCABC6}"/>
              </a:ext>
            </a:extLst>
          </p:cNvPr>
          <p:cNvSpPr>
            <a:spLocks noGrp="1"/>
          </p:cNvSpPr>
          <p:nvPr>
            <p:ph type="sldNum" sz="quarter" idx="12"/>
          </p:nvPr>
        </p:nvSpPr>
        <p:spPr/>
        <p:txBody>
          <a:body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2908584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AD78E8B-D1DB-53E0-3132-FC7156438E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21FC020-52E6-69D3-B544-F7895F6508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004D8E-191C-8138-04F1-B570EE632E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E2DEEE-334A-4AE7-8971-90CB162C351E}" type="datetimeFigureOut">
              <a:rPr lang="zh-CN" altLang="en-US" smtClean="0"/>
              <a:t>2026/10/9</a:t>
            </a:fld>
            <a:endParaRPr lang="zh-CN" altLang="en-US"/>
          </a:p>
        </p:txBody>
      </p:sp>
      <p:sp>
        <p:nvSpPr>
          <p:cNvPr id="5" name="页脚占位符 4">
            <a:extLst>
              <a:ext uri="{FF2B5EF4-FFF2-40B4-BE49-F238E27FC236}">
                <a16:creationId xmlns:a16="http://schemas.microsoft.com/office/drawing/2014/main" id="{06A7AF7F-6599-FE9E-A065-21C238E36A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4798FAF-FEE0-3527-C667-E0C652269D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CC5A5F-E4DA-421A-B9DB-208319D1EF72}" type="slidenum">
              <a:rPr lang="zh-CN" altLang="en-US" smtClean="0"/>
              <a:t>‹#›</a:t>
            </a:fld>
            <a:endParaRPr lang="zh-CN" altLang="en-US"/>
          </a:p>
        </p:txBody>
      </p:sp>
    </p:spTree>
    <p:extLst>
      <p:ext uri="{BB962C8B-B14F-4D97-AF65-F5344CB8AC3E}">
        <p14:creationId xmlns:p14="http://schemas.microsoft.com/office/powerpoint/2010/main" val="2987875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D7BD5D4-2075-B569-4CAE-C37F6A2B3722}"/>
              </a:ext>
            </a:extLst>
          </p:cNvPr>
          <p:cNvSpPr/>
          <p:nvPr/>
        </p:nvSpPr>
        <p:spPr>
          <a:xfrm>
            <a:off x="0" y="0"/>
            <a:ext cx="12192000" cy="1270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2ABA4A07-0C8D-C592-97F9-9DFEEA9A3C51}"/>
              </a:ext>
            </a:extLst>
          </p:cNvPr>
          <p:cNvSpPr/>
          <p:nvPr/>
        </p:nvSpPr>
        <p:spPr>
          <a:xfrm>
            <a:off x="762000" y="1905000"/>
            <a:ext cx="76200" cy="31750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B4A8FA06-44F4-5FE1-E90C-121EF13EAFD7}"/>
              </a:ext>
            </a:extLst>
          </p:cNvPr>
          <p:cNvSpPr txBox="1"/>
          <p:nvPr/>
        </p:nvSpPr>
        <p:spPr>
          <a:xfrm>
            <a:off x="1143000" y="1981200"/>
            <a:ext cx="9906000" cy="215444"/>
          </a:xfrm>
          <a:prstGeom prst="rect">
            <a:avLst/>
          </a:prstGeom>
          <a:noFill/>
        </p:spPr>
        <p:txBody>
          <a:bodyPr vert="horz" wrap="square" lIns="0" tIns="0" rIns="0" bIns="0" rtlCol="0">
            <a:spAutoFit/>
          </a:bodyPr>
          <a:lstStyle/>
          <a:p>
            <a:r>
              <a:rPr lang="en-US" altLang="zh-CN" sz="1400">
                <a:solidFill>
                  <a:srgbClr val="595959"/>
                </a:solidFill>
                <a:latin typeface="Calibri" panose="020F0502020204030204" pitchFamily="34" charset="0"/>
              </a:rPr>
              <a:t>DHG 502  -  Digital Approaches in Historical Research</a:t>
            </a:r>
            <a:endParaRPr lang="zh-CN" altLang="en-US" sz="1400">
              <a:solidFill>
                <a:srgbClr val="595959"/>
              </a:solidFill>
              <a:latin typeface="Calibri" panose="020F0502020204030204" pitchFamily="34" charset="0"/>
            </a:endParaRPr>
          </a:p>
        </p:txBody>
      </p:sp>
      <p:sp>
        <p:nvSpPr>
          <p:cNvPr id="5" name="文本框 4">
            <a:extLst>
              <a:ext uri="{FF2B5EF4-FFF2-40B4-BE49-F238E27FC236}">
                <a16:creationId xmlns:a16="http://schemas.microsoft.com/office/drawing/2014/main" id="{6054413A-41D1-0CA8-A7E5-41503ABBAF67}"/>
              </a:ext>
            </a:extLst>
          </p:cNvPr>
          <p:cNvSpPr txBox="1"/>
          <p:nvPr/>
        </p:nvSpPr>
        <p:spPr>
          <a:xfrm>
            <a:off x="1117600" y="2419485"/>
            <a:ext cx="10160000" cy="923330"/>
          </a:xfrm>
          <a:prstGeom prst="rect">
            <a:avLst/>
          </a:prstGeom>
          <a:noFill/>
        </p:spPr>
        <p:txBody>
          <a:bodyPr vert="horz" wrap="square" lIns="0" tIns="0" rIns="0" bIns="0" rtlCol="0">
            <a:spAutoFit/>
          </a:bodyPr>
          <a:lstStyle/>
          <a:p>
            <a:r>
              <a:rPr lang="en-US" altLang="zh-CN" sz="6000" b="1" dirty="0">
                <a:solidFill>
                  <a:srgbClr val="1F3864"/>
                </a:solidFill>
                <a:latin typeface="Calibri" panose="020F0502020204030204" pitchFamily="34" charset="0"/>
              </a:rPr>
              <a:t>Unlocking the Archives</a:t>
            </a:r>
            <a:endParaRPr lang="zh-CN" altLang="en-US" sz="6000" b="1" dirty="0">
              <a:solidFill>
                <a:srgbClr val="1F3864"/>
              </a:solidFill>
              <a:latin typeface="Calibri" panose="020F0502020204030204" pitchFamily="34" charset="0"/>
            </a:endParaRPr>
          </a:p>
        </p:txBody>
      </p:sp>
      <p:sp>
        <p:nvSpPr>
          <p:cNvPr id="6" name="文本框 5">
            <a:extLst>
              <a:ext uri="{FF2B5EF4-FFF2-40B4-BE49-F238E27FC236}">
                <a16:creationId xmlns:a16="http://schemas.microsoft.com/office/drawing/2014/main" id="{4678ED05-1AF9-615F-61C6-53255D42BE49}"/>
              </a:ext>
            </a:extLst>
          </p:cNvPr>
          <p:cNvSpPr txBox="1"/>
          <p:nvPr/>
        </p:nvSpPr>
        <p:spPr>
          <a:xfrm>
            <a:off x="1143000" y="3634314"/>
            <a:ext cx="10160000" cy="369332"/>
          </a:xfrm>
          <a:prstGeom prst="rect">
            <a:avLst/>
          </a:prstGeom>
          <a:noFill/>
        </p:spPr>
        <p:txBody>
          <a:bodyPr vert="horz" wrap="square" lIns="0" tIns="0" rIns="0" bIns="0" rtlCol="0">
            <a:spAutoFit/>
          </a:bodyPr>
          <a:lstStyle/>
          <a:p>
            <a:r>
              <a:rPr lang="en-US" altLang="zh-CN" sz="2400" dirty="0">
                <a:solidFill>
                  <a:srgbClr val="404040"/>
                </a:solidFill>
                <a:latin typeface="Calibri" panose="020F0502020204030204" pitchFamily="34" charset="0"/>
              </a:rPr>
              <a:t>Using Large Language Models to Transcribe Handwritten Historical Documents</a:t>
            </a:r>
            <a:endParaRPr lang="zh-CN" altLang="en-US" sz="2400" dirty="0">
              <a:solidFill>
                <a:srgbClr val="404040"/>
              </a:solidFill>
              <a:latin typeface="Calibri" panose="020F0502020204030204" pitchFamily="34" charset="0"/>
            </a:endParaRPr>
          </a:p>
        </p:txBody>
      </p:sp>
      <p:sp>
        <p:nvSpPr>
          <p:cNvPr id="7" name="文本框 6">
            <a:extLst>
              <a:ext uri="{FF2B5EF4-FFF2-40B4-BE49-F238E27FC236}">
                <a16:creationId xmlns:a16="http://schemas.microsoft.com/office/drawing/2014/main" id="{9595F5B9-2B3B-346B-1A7A-38BD50972A4E}"/>
              </a:ext>
            </a:extLst>
          </p:cNvPr>
          <p:cNvSpPr txBox="1"/>
          <p:nvPr/>
        </p:nvSpPr>
        <p:spPr>
          <a:xfrm>
            <a:off x="1117600" y="4586645"/>
            <a:ext cx="10160000" cy="430887"/>
          </a:xfrm>
          <a:prstGeom prst="rect">
            <a:avLst/>
          </a:prstGeom>
          <a:noFill/>
        </p:spPr>
        <p:txBody>
          <a:bodyPr vert="horz" wrap="square" lIns="0" tIns="0" rIns="0" bIns="0" rtlCol="0">
            <a:spAutoFit/>
          </a:bodyPr>
          <a:lstStyle/>
          <a:p>
            <a:r>
              <a:rPr lang="en-US" altLang="zh-CN" sz="1400" dirty="0"/>
              <a:t>Mark Humphries, Lianne C. Leddy, Quinn Downton, Meredith Legace, John McConnell, Isabella Murray, and Elizabeth </a:t>
            </a:r>
          </a:p>
          <a:p>
            <a:r>
              <a:rPr lang="en-US" altLang="zh-CN" sz="1400" b="1" dirty="0">
                <a:solidFill>
                  <a:srgbClr val="1F3864"/>
                </a:solidFill>
                <a:latin typeface="Calibri" panose="020F0502020204030204" pitchFamily="34" charset="0"/>
              </a:rPr>
              <a:t>2025   |   Historical Methods   </a:t>
            </a:r>
            <a:endParaRPr lang="zh-CN" altLang="en-US" sz="1400" b="1" dirty="0">
              <a:solidFill>
                <a:srgbClr val="1F3864"/>
              </a:solidFill>
              <a:latin typeface="Calibri" panose="020F0502020204030204" pitchFamily="34" charset="0"/>
            </a:endParaRPr>
          </a:p>
        </p:txBody>
      </p:sp>
      <p:sp>
        <p:nvSpPr>
          <p:cNvPr id="9" name="文本框 8">
            <a:extLst>
              <a:ext uri="{FF2B5EF4-FFF2-40B4-BE49-F238E27FC236}">
                <a16:creationId xmlns:a16="http://schemas.microsoft.com/office/drawing/2014/main" id="{B5C25162-F392-EE31-C4C8-2E8994E0E418}"/>
              </a:ext>
            </a:extLst>
          </p:cNvPr>
          <p:cNvSpPr txBox="1"/>
          <p:nvPr/>
        </p:nvSpPr>
        <p:spPr>
          <a:xfrm>
            <a:off x="1143000" y="5969000"/>
            <a:ext cx="10160000" cy="200055"/>
          </a:xfrm>
          <a:prstGeom prst="rect">
            <a:avLst/>
          </a:prstGeom>
          <a:noFill/>
        </p:spPr>
        <p:txBody>
          <a:bodyPr vert="horz" wrap="square" lIns="0" tIns="0" rIns="0" bIns="0" rtlCol="0">
            <a:spAutoFit/>
          </a:bodyPr>
          <a:lstStyle/>
          <a:p>
            <a:r>
              <a:rPr lang="en-US" altLang="zh-CN" sz="1300" dirty="0">
                <a:solidFill>
                  <a:srgbClr val="595959"/>
                </a:solidFill>
                <a:latin typeface="Calibri" panose="020F0502020204030204" pitchFamily="34" charset="0"/>
              </a:rPr>
              <a:t>Eric, CiCi, Ally</a:t>
            </a:r>
            <a:endParaRPr lang="zh-CN" altLang="en-US" sz="1300" dirty="0">
              <a:solidFill>
                <a:srgbClr val="595959"/>
              </a:solidFill>
              <a:latin typeface="Calibri" panose="020F0502020204030204" pitchFamily="34" charset="0"/>
            </a:endParaRPr>
          </a:p>
        </p:txBody>
      </p:sp>
    </p:spTree>
    <p:extLst>
      <p:ext uri="{BB962C8B-B14F-4D97-AF65-F5344CB8AC3E}">
        <p14:creationId xmlns:p14="http://schemas.microsoft.com/office/powerpoint/2010/main" val="2093981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40ECC65-8258-21C9-A617-DE68015E55A4}"/>
              </a:ext>
            </a:extLst>
          </p:cNvPr>
          <p:cNvSpPr/>
          <p:nvPr/>
        </p:nvSpPr>
        <p:spPr>
          <a:xfrm>
            <a:off x="0" y="0"/>
            <a:ext cx="12192000" cy="1016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C039400-94D9-AF5E-F3C4-44B907BE3577}"/>
              </a:ext>
            </a:extLst>
          </p:cNvPr>
          <p:cNvSpPr txBox="1"/>
          <p:nvPr/>
        </p:nvSpPr>
        <p:spPr>
          <a:xfrm>
            <a:off x="762000" y="508000"/>
            <a:ext cx="8890000" cy="184666"/>
          </a:xfrm>
          <a:prstGeom prst="rect">
            <a:avLst/>
          </a:prstGeom>
          <a:noFill/>
        </p:spPr>
        <p:txBody>
          <a:bodyPr vert="horz" wrap="square" lIns="0" tIns="0" rIns="0" bIns="0" rtlCol="0">
            <a:spAutoFit/>
          </a:bodyPr>
          <a:lstStyle/>
          <a:p>
            <a:r>
              <a:rPr lang="en-US" altLang="zh-CN" sz="1200" b="1">
                <a:solidFill>
                  <a:srgbClr val="1F3864"/>
                </a:solidFill>
                <a:latin typeface="Calibri" panose="020F0502020204030204" pitchFamily="34" charset="0"/>
              </a:rPr>
              <a:t>Overview</a:t>
            </a:r>
            <a:endParaRPr lang="zh-CN" altLang="en-US" sz="1200" b="1">
              <a:solidFill>
                <a:srgbClr val="1F3864"/>
              </a:solidFill>
              <a:latin typeface="Calibri" panose="020F0502020204030204" pitchFamily="34" charset="0"/>
            </a:endParaRPr>
          </a:p>
        </p:txBody>
      </p:sp>
      <p:sp>
        <p:nvSpPr>
          <p:cNvPr id="4" name="文本框 3">
            <a:extLst>
              <a:ext uri="{FF2B5EF4-FFF2-40B4-BE49-F238E27FC236}">
                <a16:creationId xmlns:a16="http://schemas.microsoft.com/office/drawing/2014/main" id="{ADB6DAE9-8AD4-1499-93D0-135BD7B35006}"/>
              </a:ext>
            </a:extLst>
          </p:cNvPr>
          <p:cNvSpPr txBox="1"/>
          <p:nvPr/>
        </p:nvSpPr>
        <p:spPr>
          <a:xfrm>
            <a:off x="736600" y="812800"/>
            <a:ext cx="10718800" cy="461665"/>
          </a:xfrm>
          <a:prstGeom prst="rect">
            <a:avLst/>
          </a:prstGeom>
          <a:noFill/>
        </p:spPr>
        <p:txBody>
          <a:bodyPr vert="horz" wrap="square" lIns="0" tIns="0" rIns="0" bIns="0" rtlCol="0">
            <a:spAutoFit/>
          </a:bodyPr>
          <a:lstStyle/>
          <a:p>
            <a:r>
              <a:rPr lang="en-US" altLang="zh-CN" sz="3000" b="1">
                <a:solidFill>
                  <a:srgbClr val="1F3864"/>
                </a:solidFill>
                <a:latin typeface="Calibri" panose="020F0502020204030204" pitchFamily="34" charset="0"/>
              </a:rPr>
              <a:t>Roadmap of This Presentation</a:t>
            </a:r>
            <a:endParaRPr lang="zh-CN" altLang="en-US" sz="3000" b="1">
              <a:solidFill>
                <a:srgbClr val="1F3864"/>
              </a:solidFill>
              <a:latin typeface="Calibri" panose="020F0502020204030204" pitchFamily="34" charset="0"/>
            </a:endParaRPr>
          </a:p>
        </p:txBody>
      </p:sp>
      <p:sp>
        <p:nvSpPr>
          <p:cNvPr id="5" name="矩形 4">
            <a:extLst>
              <a:ext uri="{FF2B5EF4-FFF2-40B4-BE49-F238E27FC236}">
                <a16:creationId xmlns:a16="http://schemas.microsoft.com/office/drawing/2014/main" id="{168C422E-B434-6C97-6DB4-5C03897A600A}"/>
              </a:ext>
            </a:extLst>
          </p:cNvPr>
          <p:cNvSpPr/>
          <p:nvPr/>
        </p:nvSpPr>
        <p:spPr>
          <a:xfrm>
            <a:off x="762000" y="1549400"/>
            <a:ext cx="1397000" cy="381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F1A63A01-F979-D311-62C2-5411939629AC}"/>
              </a:ext>
            </a:extLst>
          </p:cNvPr>
          <p:cNvSpPr txBox="1"/>
          <p:nvPr/>
        </p:nvSpPr>
        <p:spPr>
          <a:xfrm>
            <a:off x="762000" y="6426200"/>
            <a:ext cx="8128000" cy="153888"/>
          </a:xfrm>
          <a:prstGeom prst="rect">
            <a:avLst/>
          </a:prstGeom>
          <a:noFill/>
        </p:spPr>
        <p:txBody>
          <a:bodyPr vert="horz" wrap="square" lIns="0" tIns="0" rIns="0" bIns="0" rtlCol="0">
            <a:spAutoFit/>
          </a:bodyPr>
          <a:lstStyle/>
          <a:p>
            <a:r>
              <a:rPr lang="en-US" altLang="zh-CN" sz="1000">
                <a:solidFill>
                  <a:srgbClr val="595959"/>
                </a:solidFill>
                <a:latin typeface="Calibri" panose="020F0502020204030204" pitchFamily="34" charset="0"/>
              </a:rPr>
              <a:t>DHG 502  |  Digital Approaches in Historical Research  |  Week 6  |  Part 1</a:t>
            </a:r>
            <a:endParaRPr lang="zh-CN" altLang="en-US" sz="1000">
              <a:solidFill>
                <a:srgbClr val="595959"/>
              </a:solidFill>
              <a:latin typeface="Calibri" panose="020F0502020204030204" pitchFamily="34" charset="0"/>
            </a:endParaRPr>
          </a:p>
        </p:txBody>
      </p:sp>
      <p:sp>
        <p:nvSpPr>
          <p:cNvPr id="7" name="文本框 6">
            <a:extLst>
              <a:ext uri="{FF2B5EF4-FFF2-40B4-BE49-F238E27FC236}">
                <a16:creationId xmlns:a16="http://schemas.microsoft.com/office/drawing/2014/main" id="{0D13FC0D-3560-31DF-A591-D0EC44AC141C}"/>
              </a:ext>
            </a:extLst>
          </p:cNvPr>
          <p:cNvSpPr txBox="1"/>
          <p:nvPr/>
        </p:nvSpPr>
        <p:spPr>
          <a:xfrm>
            <a:off x="10922000" y="6426200"/>
            <a:ext cx="508000" cy="153888"/>
          </a:xfrm>
          <a:prstGeom prst="rect">
            <a:avLst/>
          </a:prstGeom>
          <a:noFill/>
        </p:spPr>
        <p:txBody>
          <a:bodyPr vert="horz" wrap="square" lIns="0" tIns="0" rIns="0" bIns="0" rtlCol="0">
            <a:spAutoFit/>
          </a:bodyPr>
          <a:lstStyle/>
          <a:p>
            <a:pPr algn="r"/>
            <a:r>
              <a:rPr lang="en-US" altLang="zh-CN" sz="1000">
                <a:solidFill>
                  <a:srgbClr val="595959"/>
                </a:solidFill>
                <a:latin typeface="Calibri" panose="020F0502020204030204" pitchFamily="34" charset="0"/>
              </a:rPr>
              <a:t>2</a:t>
            </a:r>
            <a:endParaRPr lang="zh-CN" altLang="en-US" sz="1000">
              <a:solidFill>
                <a:srgbClr val="595959"/>
              </a:solidFill>
              <a:latin typeface="Calibri" panose="020F0502020204030204" pitchFamily="34" charset="0"/>
            </a:endParaRPr>
          </a:p>
        </p:txBody>
      </p:sp>
      <p:sp>
        <p:nvSpPr>
          <p:cNvPr id="8" name="矩形: 圆角 7">
            <a:extLst>
              <a:ext uri="{FF2B5EF4-FFF2-40B4-BE49-F238E27FC236}">
                <a16:creationId xmlns:a16="http://schemas.microsoft.com/office/drawing/2014/main" id="{EB5190B8-D449-EAA5-3EB1-100BEACAADB6}"/>
              </a:ext>
            </a:extLst>
          </p:cNvPr>
          <p:cNvSpPr/>
          <p:nvPr/>
        </p:nvSpPr>
        <p:spPr>
          <a:xfrm>
            <a:off x="762000" y="2667000"/>
            <a:ext cx="3302000" cy="1905000"/>
          </a:xfrm>
          <a:prstGeom prst="roundRect">
            <a:avLst>
              <a:gd name="adj" fmla="val 10000"/>
            </a:avLst>
          </a:prstGeom>
          <a:solidFill>
            <a:srgbClr val="1F3864"/>
          </a:solidFill>
          <a:ln w="12700">
            <a:solidFill>
              <a:srgbClr val="1F3864"/>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b="1">
                <a:solidFill>
                  <a:srgbClr val="FFFFFF"/>
                </a:solidFill>
                <a:latin typeface="Calibri" panose="020F0502020204030204" pitchFamily="34" charset="0"/>
              </a:rPr>
              <a:t>Part 1</a:t>
            </a:r>
          </a:p>
          <a:p>
            <a:pPr algn="ctr"/>
            <a:endParaRPr lang="en-US" altLang="zh-CN" b="1">
              <a:solidFill>
                <a:srgbClr val="FFFFFF"/>
              </a:solidFill>
              <a:latin typeface="Calibri" panose="020F0502020204030204" pitchFamily="34" charset="0"/>
            </a:endParaRPr>
          </a:p>
          <a:p>
            <a:pPr algn="ctr"/>
            <a:r>
              <a:rPr lang="en-US" altLang="zh-CN" b="1">
                <a:solidFill>
                  <a:srgbClr val="FFFFFF"/>
                </a:solidFill>
                <a:latin typeface="Calibri" panose="020F0502020204030204" pitchFamily="34" charset="0"/>
              </a:rPr>
              <a:t>Background &amp; Research Question</a:t>
            </a:r>
            <a:endParaRPr lang="zh-CN" altLang="en-US" b="1">
              <a:solidFill>
                <a:srgbClr val="FFFFFF"/>
              </a:solidFill>
              <a:latin typeface="Calibri" panose="020F0502020204030204" pitchFamily="34" charset="0"/>
            </a:endParaRPr>
          </a:p>
        </p:txBody>
      </p:sp>
      <p:sp>
        <p:nvSpPr>
          <p:cNvPr id="9" name="矩形: 圆角 8">
            <a:extLst>
              <a:ext uri="{FF2B5EF4-FFF2-40B4-BE49-F238E27FC236}">
                <a16:creationId xmlns:a16="http://schemas.microsoft.com/office/drawing/2014/main" id="{9558D525-5C52-C904-8EEC-95A550BA103C}"/>
              </a:ext>
            </a:extLst>
          </p:cNvPr>
          <p:cNvSpPr/>
          <p:nvPr/>
        </p:nvSpPr>
        <p:spPr>
          <a:xfrm>
            <a:off x="4445000" y="2667000"/>
            <a:ext cx="3302000" cy="19050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b="1">
                <a:solidFill>
                  <a:srgbClr val="1F3864"/>
                </a:solidFill>
                <a:latin typeface="Calibri" panose="020F0502020204030204" pitchFamily="34" charset="0"/>
              </a:rPr>
              <a:t>Part 2</a:t>
            </a:r>
          </a:p>
          <a:p>
            <a:pPr algn="ctr"/>
            <a:endParaRPr lang="en-US" altLang="zh-CN" b="1">
              <a:solidFill>
                <a:srgbClr val="1F3864"/>
              </a:solidFill>
              <a:latin typeface="Calibri" panose="020F0502020204030204" pitchFamily="34" charset="0"/>
            </a:endParaRPr>
          </a:p>
          <a:p>
            <a:pPr algn="ctr"/>
            <a:r>
              <a:rPr lang="en-US" altLang="zh-CN" b="1">
                <a:solidFill>
                  <a:srgbClr val="1F3864"/>
                </a:solidFill>
                <a:latin typeface="Calibri" panose="020F0502020204030204" pitchFamily="34" charset="0"/>
              </a:rPr>
              <a:t>Method &amp; Experiments</a:t>
            </a:r>
            <a:endParaRPr lang="zh-CN" altLang="en-US" b="1">
              <a:solidFill>
                <a:srgbClr val="1F3864"/>
              </a:solidFill>
              <a:latin typeface="Calibri" panose="020F0502020204030204" pitchFamily="34" charset="0"/>
            </a:endParaRPr>
          </a:p>
        </p:txBody>
      </p:sp>
      <p:sp>
        <p:nvSpPr>
          <p:cNvPr id="10" name="矩形: 圆角 9">
            <a:extLst>
              <a:ext uri="{FF2B5EF4-FFF2-40B4-BE49-F238E27FC236}">
                <a16:creationId xmlns:a16="http://schemas.microsoft.com/office/drawing/2014/main" id="{0EB3D204-D682-F1CA-B55F-6DCDB35E16B8}"/>
              </a:ext>
            </a:extLst>
          </p:cNvPr>
          <p:cNvSpPr/>
          <p:nvPr/>
        </p:nvSpPr>
        <p:spPr>
          <a:xfrm>
            <a:off x="8128000" y="2667000"/>
            <a:ext cx="3302000" cy="19050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b="1">
                <a:solidFill>
                  <a:srgbClr val="1F3864"/>
                </a:solidFill>
                <a:latin typeface="Calibri" panose="020F0502020204030204" pitchFamily="34" charset="0"/>
              </a:rPr>
              <a:t>Part 3</a:t>
            </a:r>
          </a:p>
          <a:p>
            <a:pPr algn="ctr"/>
            <a:endParaRPr lang="en-US" altLang="zh-CN" b="1">
              <a:solidFill>
                <a:srgbClr val="1F3864"/>
              </a:solidFill>
              <a:latin typeface="Calibri" panose="020F0502020204030204" pitchFamily="34" charset="0"/>
            </a:endParaRPr>
          </a:p>
          <a:p>
            <a:pPr algn="ctr"/>
            <a:r>
              <a:rPr lang="en-US" altLang="zh-CN" b="1">
                <a:solidFill>
                  <a:srgbClr val="1F3864"/>
                </a:solidFill>
                <a:latin typeface="Calibri" panose="020F0502020204030204" pitchFamily="34" charset="0"/>
              </a:rPr>
              <a:t>Results, Conclusions &amp; Limits</a:t>
            </a:r>
            <a:endParaRPr lang="zh-CN" altLang="en-US" b="1">
              <a:solidFill>
                <a:srgbClr val="1F3864"/>
              </a:solidFill>
              <a:latin typeface="Calibri" panose="020F0502020204030204" pitchFamily="34" charset="0"/>
            </a:endParaRPr>
          </a:p>
        </p:txBody>
      </p:sp>
      <p:sp>
        <p:nvSpPr>
          <p:cNvPr id="11" name="文本框 10">
            <a:extLst>
              <a:ext uri="{FF2B5EF4-FFF2-40B4-BE49-F238E27FC236}">
                <a16:creationId xmlns:a16="http://schemas.microsoft.com/office/drawing/2014/main" id="{ED3ADB23-F636-3EF0-64FB-C7B0E7945E40}"/>
              </a:ext>
            </a:extLst>
          </p:cNvPr>
          <p:cNvSpPr txBox="1"/>
          <p:nvPr/>
        </p:nvSpPr>
        <p:spPr>
          <a:xfrm>
            <a:off x="762000" y="2260600"/>
            <a:ext cx="3302000" cy="200055"/>
          </a:xfrm>
          <a:prstGeom prst="rect">
            <a:avLst/>
          </a:prstGeom>
          <a:noFill/>
        </p:spPr>
        <p:txBody>
          <a:bodyPr vert="horz" wrap="square" lIns="0" tIns="0" rIns="0" bIns="0" rtlCol="0">
            <a:spAutoFit/>
          </a:bodyPr>
          <a:lstStyle/>
          <a:p>
            <a:pPr algn="ctr"/>
            <a:r>
              <a:rPr lang="en-US" altLang="zh-CN" sz="1300" b="1">
                <a:solidFill>
                  <a:srgbClr val="1F3864"/>
                </a:solidFill>
                <a:latin typeface="Calibri" panose="020F0502020204030204" pitchFamily="34" charset="0"/>
              </a:rPr>
              <a:t>Now</a:t>
            </a:r>
            <a:endParaRPr lang="zh-CN" altLang="en-US" sz="1300" b="1">
              <a:solidFill>
                <a:srgbClr val="1F3864"/>
              </a:solidFill>
              <a:latin typeface="Calibri" panose="020F0502020204030204" pitchFamily="34" charset="0"/>
            </a:endParaRPr>
          </a:p>
        </p:txBody>
      </p:sp>
    </p:spTree>
    <p:extLst>
      <p:ext uri="{BB962C8B-B14F-4D97-AF65-F5344CB8AC3E}">
        <p14:creationId xmlns:p14="http://schemas.microsoft.com/office/powerpoint/2010/main" val="89977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4B919DF-1E39-1F74-5761-8CCC21E9EAD8}"/>
              </a:ext>
            </a:extLst>
          </p:cNvPr>
          <p:cNvSpPr/>
          <p:nvPr/>
        </p:nvSpPr>
        <p:spPr>
          <a:xfrm>
            <a:off x="0" y="0"/>
            <a:ext cx="12192000" cy="1016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75294ABD-5A5A-AF84-A4E5-6848823D6BB1}"/>
              </a:ext>
            </a:extLst>
          </p:cNvPr>
          <p:cNvSpPr txBox="1"/>
          <p:nvPr/>
        </p:nvSpPr>
        <p:spPr>
          <a:xfrm>
            <a:off x="762000" y="508000"/>
            <a:ext cx="8890000" cy="184666"/>
          </a:xfrm>
          <a:prstGeom prst="rect">
            <a:avLst/>
          </a:prstGeom>
          <a:noFill/>
        </p:spPr>
        <p:txBody>
          <a:bodyPr vert="horz" wrap="square" lIns="0" tIns="0" rIns="0" bIns="0" rtlCol="0">
            <a:spAutoFit/>
          </a:bodyPr>
          <a:lstStyle/>
          <a:p>
            <a:r>
              <a:rPr lang="en-US" altLang="zh-CN" sz="1200" b="1">
                <a:solidFill>
                  <a:srgbClr val="1F3864"/>
                </a:solidFill>
                <a:latin typeface="Calibri" panose="020F0502020204030204" pitchFamily="34" charset="0"/>
              </a:rPr>
              <a:t>Background</a:t>
            </a:r>
            <a:endParaRPr lang="zh-CN" altLang="en-US" sz="1200" b="1">
              <a:solidFill>
                <a:srgbClr val="1F3864"/>
              </a:solidFill>
              <a:latin typeface="Calibri" panose="020F0502020204030204" pitchFamily="34" charset="0"/>
            </a:endParaRPr>
          </a:p>
        </p:txBody>
      </p:sp>
      <p:sp>
        <p:nvSpPr>
          <p:cNvPr id="4" name="文本框 3">
            <a:extLst>
              <a:ext uri="{FF2B5EF4-FFF2-40B4-BE49-F238E27FC236}">
                <a16:creationId xmlns:a16="http://schemas.microsoft.com/office/drawing/2014/main" id="{60144A37-4131-23A2-E6B8-317DE85114BD}"/>
              </a:ext>
            </a:extLst>
          </p:cNvPr>
          <p:cNvSpPr txBox="1"/>
          <p:nvPr/>
        </p:nvSpPr>
        <p:spPr>
          <a:xfrm>
            <a:off x="736600" y="812800"/>
            <a:ext cx="10718800" cy="461665"/>
          </a:xfrm>
          <a:prstGeom prst="rect">
            <a:avLst/>
          </a:prstGeom>
          <a:noFill/>
        </p:spPr>
        <p:txBody>
          <a:bodyPr vert="horz" wrap="square" lIns="0" tIns="0" rIns="0" bIns="0" rtlCol="0">
            <a:spAutoFit/>
          </a:bodyPr>
          <a:lstStyle/>
          <a:p>
            <a:r>
              <a:rPr lang="en-US" altLang="zh-CN" sz="3000" b="1">
                <a:solidFill>
                  <a:srgbClr val="1F3864"/>
                </a:solidFill>
                <a:latin typeface="Calibri" panose="020F0502020204030204" pitchFamily="34" charset="0"/>
              </a:rPr>
              <a:t>What Is HTR - and Why Is It Hard?</a:t>
            </a:r>
            <a:endParaRPr lang="zh-CN" altLang="en-US" sz="3000" b="1">
              <a:solidFill>
                <a:srgbClr val="1F3864"/>
              </a:solidFill>
              <a:latin typeface="Calibri" panose="020F0502020204030204" pitchFamily="34" charset="0"/>
            </a:endParaRPr>
          </a:p>
        </p:txBody>
      </p:sp>
      <p:sp>
        <p:nvSpPr>
          <p:cNvPr id="5" name="矩形 4">
            <a:extLst>
              <a:ext uri="{FF2B5EF4-FFF2-40B4-BE49-F238E27FC236}">
                <a16:creationId xmlns:a16="http://schemas.microsoft.com/office/drawing/2014/main" id="{E036164D-F560-7795-DC3D-5187BDE3B213}"/>
              </a:ext>
            </a:extLst>
          </p:cNvPr>
          <p:cNvSpPr/>
          <p:nvPr/>
        </p:nvSpPr>
        <p:spPr>
          <a:xfrm>
            <a:off x="762000" y="1549400"/>
            <a:ext cx="1397000" cy="381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610C009D-BB00-5B94-29FE-2AE501B792A2}"/>
              </a:ext>
            </a:extLst>
          </p:cNvPr>
          <p:cNvSpPr txBox="1"/>
          <p:nvPr/>
        </p:nvSpPr>
        <p:spPr>
          <a:xfrm>
            <a:off x="762000" y="6426200"/>
            <a:ext cx="8128000" cy="153888"/>
          </a:xfrm>
          <a:prstGeom prst="rect">
            <a:avLst/>
          </a:prstGeom>
          <a:noFill/>
        </p:spPr>
        <p:txBody>
          <a:bodyPr vert="horz" wrap="square" lIns="0" tIns="0" rIns="0" bIns="0" rtlCol="0">
            <a:spAutoFit/>
          </a:bodyPr>
          <a:lstStyle/>
          <a:p>
            <a:r>
              <a:rPr lang="en-US" altLang="zh-CN" sz="1000">
                <a:solidFill>
                  <a:srgbClr val="595959"/>
                </a:solidFill>
                <a:latin typeface="Calibri" panose="020F0502020204030204" pitchFamily="34" charset="0"/>
              </a:rPr>
              <a:t>DHG 502  |  Digital Approaches in Historical Research  |  Week 6  |  Part 1</a:t>
            </a:r>
            <a:endParaRPr lang="zh-CN" altLang="en-US" sz="1000">
              <a:solidFill>
                <a:srgbClr val="595959"/>
              </a:solidFill>
              <a:latin typeface="Calibri" panose="020F0502020204030204" pitchFamily="34" charset="0"/>
            </a:endParaRPr>
          </a:p>
        </p:txBody>
      </p:sp>
      <p:sp>
        <p:nvSpPr>
          <p:cNvPr id="7" name="文本框 6">
            <a:extLst>
              <a:ext uri="{FF2B5EF4-FFF2-40B4-BE49-F238E27FC236}">
                <a16:creationId xmlns:a16="http://schemas.microsoft.com/office/drawing/2014/main" id="{54E0D5FA-AA92-CD39-B6F9-702BC8CFF401}"/>
              </a:ext>
            </a:extLst>
          </p:cNvPr>
          <p:cNvSpPr txBox="1"/>
          <p:nvPr/>
        </p:nvSpPr>
        <p:spPr>
          <a:xfrm>
            <a:off x="10922000" y="6426200"/>
            <a:ext cx="508000" cy="153888"/>
          </a:xfrm>
          <a:prstGeom prst="rect">
            <a:avLst/>
          </a:prstGeom>
          <a:noFill/>
        </p:spPr>
        <p:txBody>
          <a:bodyPr vert="horz" wrap="square" lIns="0" tIns="0" rIns="0" bIns="0" rtlCol="0">
            <a:spAutoFit/>
          </a:bodyPr>
          <a:lstStyle/>
          <a:p>
            <a:pPr algn="r"/>
            <a:r>
              <a:rPr lang="en-US" altLang="zh-CN" sz="1000">
                <a:solidFill>
                  <a:srgbClr val="595959"/>
                </a:solidFill>
                <a:latin typeface="Calibri" panose="020F0502020204030204" pitchFamily="34" charset="0"/>
              </a:rPr>
              <a:t>3</a:t>
            </a:r>
            <a:endParaRPr lang="zh-CN" altLang="en-US" sz="1000">
              <a:solidFill>
                <a:srgbClr val="595959"/>
              </a:solidFill>
              <a:latin typeface="Calibri" panose="020F0502020204030204" pitchFamily="34" charset="0"/>
            </a:endParaRPr>
          </a:p>
        </p:txBody>
      </p:sp>
      <p:sp>
        <p:nvSpPr>
          <p:cNvPr id="8" name="矩形: 圆角 7">
            <a:extLst>
              <a:ext uri="{FF2B5EF4-FFF2-40B4-BE49-F238E27FC236}">
                <a16:creationId xmlns:a16="http://schemas.microsoft.com/office/drawing/2014/main" id="{72223930-280E-582D-7E6A-79AB1015077F}"/>
              </a:ext>
            </a:extLst>
          </p:cNvPr>
          <p:cNvSpPr/>
          <p:nvPr/>
        </p:nvSpPr>
        <p:spPr>
          <a:xfrm>
            <a:off x="762000" y="2032000"/>
            <a:ext cx="5080000" cy="8890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a:solidFill>
                  <a:srgbClr val="1F3864"/>
                </a:solidFill>
                <a:latin typeface="Calibri" panose="020F0502020204030204" pitchFamily="34" charset="0"/>
              </a:rPr>
              <a:t>OCR  -  printed text</a:t>
            </a:r>
            <a:endParaRPr lang="zh-CN" altLang="en-US">
              <a:solidFill>
                <a:srgbClr val="1F3864"/>
              </a:solidFill>
              <a:latin typeface="Calibri" panose="020F0502020204030204" pitchFamily="34" charset="0"/>
            </a:endParaRPr>
          </a:p>
        </p:txBody>
      </p:sp>
      <p:sp>
        <p:nvSpPr>
          <p:cNvPr id="9" name="矩形: 圆角 8">
            <a:extLst>
              <a:ext uri="{FF2B5EF4-FFF2-40B4-BE49-F238E27FC236}">
                <a16:creationId xmlns:a16="http://schemas.microsoft.com/office/drawing/2014/main" id="{AAA53BCE-FC14-BDDF-12F7-8E3A0B9A184E}"/>
              </a:ext>
            </a:extLst>
          </p:cNvPr>
          <p:cNvSpPr/>
          <p:nvPr/>
        </p:nvSpPr>
        <p:spPr>
          <a:xfrm>
            <a:off x="6350000" y="2032000"/>
            <a:ext cx="5080000" cy="889000"/>
          </a:xfrm>
          <a:prstGeom prst="roundRect">
            <a:avLst>
              <a:gd name="adj" fmla="val 10000"/>
            </a:avLst>
          </a:prstGeom>
          <a:solidFill>
            <a:srgbClr val="1F3864"/>
          </a:solidFill>
          <a:ln w="12700">
            <a:solidFill>
              <a:srgbClr val="1F3864"/>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b="1">
                <a:solidFill>
                  <a:srgbClr val="FFFFFF"/>
                </a:solidFill>
                <a:latin typeface="Calibri" panose="020F0502020204030204" pitchFamily="34" charset="0"/>
              </a:rPr>
              <a:t>HTR  -  handwriting (far harder)</a:t>
            </a:r>
            <a:endParaRPr lang="zh-CN" altLang="en-US" b="1">
              <a:solidFill>
                <a:srgbClr val="FFFFFF"/>
              </a:solidFill>
              <a:latin typeface="Calibri" panose="020F0502020204030204" pitchFamily="34" charset="0"/>
            </a:endParaRPr>
          </a:p>
        </p:txBody>
      </p:sp>
      <p:sp>
        <p:nvSpPr>
          <p:cNvPr id="10" name="文本框 9">
            <a:extLst>
              <a:ext uri="{FF2B5EF4-FFF2-40B4-BE49-F238E27FC236}">
                <a16:creationId xmlns:a16="http://schemas.microsoft.com/office/drawing/2014/main" id="{4BBF6E5C-23D8-5ED9-E13D-E1B88058DC43}"/>
              </a:ext>
            </a:extLst>
          </p:cNvPr>
          <p:cNvSpPr txBox="1"/>
          <p:nvPr/>
        </p:nvSpPr>
        <p:spPr>
          <a:xfrm>
            <a:off x="762000" y="3556000"/>
            <a:ext cx="10668000" cy="292388"/>
          </a:xfrm>
          <a:prstGeom prst="rect">
            <a:avLst/>
          </a:prstGeom>
          <a:noFill/>
        </p:spPr>
        <p:txBody>
          <a:bodyPr vert="horz" wrap="square" lIns="0" tIns="0" rIns="0" bIns="0" rtlCol="0">
            <a:spAutoFit/>
          </a:bodyPr>
          <a:lstStyle/>
          <a:p>
            <a:r>
              <a:rPr lang="en-US" altLang="zh-CN" sz="1900">
                <a:solidFill>
                  <a:srgbClr val="404040"/>
                </a:solidFill>
                <a:latin typeface="Calibri" panose="020F0502020204030204" pitchFamily="34" charset="0"/>
              </a:rPr>
              <a:t>•  Every hand is unique; cursive scripts and spacing vary enormously</a:t>
            </a:r>
            <a:endParaRPr lang="zh-CN" altLang="en-US" sz="1900">
              <a:solidFill>
                <a:srgbClr val="404040"/>
              </a:solidFill>
              <a:latin typeface="Calibri" panose="020F0502020204030204" pitchFamily="34" charset="0"/>
            </a:endParaRPr>
          </a:p>
        </p:txBody>
      </p:sp>
      <p:sp>
        <p:nvSpPr>
          <p:cNvPr id="11" name="文本框 10">
            <a:extLst>
              <a:ext uri="{FF2B5EF4-FFF2-40B4-BE49-F238E27FC236}">
                <a16:creationId xmlns:a16="http://schemas.microsoft.com/office/drawing/2014/main" id="{F227F1E0-1B17-27A0-6144-82EB92F3420C}"/>
              </a:ext>
            </a:extLst>
          </p:cNvPr>
          <p:cNvSpPr txBox="1"/>
          <p:nvPr/>
        </p:nvSpPr>
        <p:spPr>
          <a:xfrm>
            <a:off x="762000" y="4267200"/>
            <a:ext cx="10668000" cy="292388"/>
          </a:xfrm>
          <a:prstGeom prst="rect">
            <a:avLst/>
          </a:prstGeom>
          <a:noFill/>
        </p:spPr>
        <p:txBody>
          <a:bodyPr vert="horz" wrap="square" lIns="0" tIns="0" rIns="0" bIns="0" rtlCol="0">
            <a:spAutoFit/>
          </a:bodyPr>
          <a:lstStyle/>
          <a:p>
            <a:r>
              <a:rPr lang="en-US" altLang="zh-CN" sz="1900">
                <a:solidFill>
                  <a:srgbClr val="404040"/>
                </a:solidFill>
                <a:latin typeface="Calibri" panose="020F0502020204030204" pitchFamily="34" charset="0"/>
              </a:rPr>
              <a:t>•  Paper decay, ink fading, blurry phone photos, and poor microfilm</a:t>
            </a:r>
            <a:endParaRPr lang="zh-CN" altLang="en-US" sz="1900">
              <a:solidFill>
                <a:srgbClr val="404040"/>
              </a:solidFill>
              <a:latin typeface="Calibri" panose="020F0502020204030204" pitchFamily="34" charset="0"/>
            </a:endParaRPr>
          </a:p>
        </p:txBody>
      </p:sp>
      <p:sp>
        <p:nvSpPr>
          <p:cNvPr id="12" name="文本框 11">
            <a:extLst>
              <a:ext uri="{FF2B5EF4-FFF2-40B4-BE49-F238E27FC236}">
                <a16:creationId xmlns:a16="http://schemas.microsoft.com/office/drawing/2014/main" id="{DCE45EF5-F0C8-8C34-F3EF-435537C47B1D}"/>
              </a:ext>
            </a:extLst>
          </p:cNvPr>
          <p:cNvSpPr txBox="1"/>
          <p:nvPr/>
        </p:nvSpPr>
        <p:spPr>
          <a:xfrm>
            <a:off x="762000" y="4978400"/>
            <a:ext cx="10668000" cy="292388"/>
          </a:xfrm>
          <a:prstGeom prst="rect">
            <a:avLst/>
          </a:prstGeom>
          <a:noFill/>
        </p:spPr>
        <p:txBody>
          <a:bodyPr vert="horz" wrap="square" lIns="0" tIns="0" rIns="0" bIns="0" rtlCol="0">
            <a:spAutoFit/>
          </a:bodyPr>
          <a:lstStyle/>
          <a:p>
            <a:r>
              <a:rPr lang="en-US" altLang="zh-CN" sz="1900">
                <a:solidFill>
                  <a:srgbClr val="404040"/>
                </a:solidFill>
                <a:latin typeface="Calibri" panose="020F0502020204030204" pitchFamily="34" charset="0"/>
              </a:rPr>
              <a:t>•  No two people write the same way - so HTR must generalize across all of them</a:t>
            </a:r>
            <a:endParaRPr lang="zh-CN" altLang="en-US" sz="1900">
              <a:solidFill>
                <a:srgbClr val="404040"/>
              </a:solidFill>
              <a:latin typeface="Calibri" panose="020F0502020204030204" pitchFamily="34" charset="0"/>
            </a:endParaRPr>
          </a:p>
        </p:txBody>
      </p:sp>
    </p:spTree>
    <p:extLst>
      <p:ext uri="{BB962C8B-B14F-4D97-AF65-F5344CB8AC3E}">
        <p14:creationId xmlns:p14="http://schemas.microsoft.com/office/powerpoint/2010/main" val="250631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2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5056ECA-DF14-5E25-9EEB-82458467D3F2}"/>
              </a:ext>
            </a:extLst>
          </p:cNvPr>
          <p:cNvSpPr/>
          <p:nvPr/>
        </p:nvSpPr>
        <p:spPr>
          <a:xfrm>
            <a:off x="0" y="0"/>
            <a:ext cx="12192000" cy="1016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D95DD349-42C3-3E89-4F35-44B3B10901D3}"/>
              </a:ext>
            </a:extLst>
          </p:cNvPr>
          <p:cNvSpPr txBox="1"/>
          <p:nvPr/>
        </p:nvSpPr>
        <p:spPr>
          <a:xfrm>
            <a:off x="762000" y="508000"/>
            <a:ext cx="8890000" cy="184666"/>
          </a:xfrm>
          <a:prstGeom prst="rect">
            <a:avLst/>
          </a:prstGeom>
          <a:noFill/>
        </p:spPr>
        <p:txBody>
          <a:bodyPr vert="horz" wrap="square" lIns="0" tIns="0" rIns="0" bIns="0" rtlCol="0">
            <a:spAutoFit/>
          </a:bodyPr>
          <a:lstStyle/>
          <a:p>
            <a:r>
              <a:rPr lang="en-US" altLang="zh-CN" sz="1200" b="1">
                <a:solidFill>
                  <a:srgbClr val="1F3864"/>
                </a:solidFill>
                <a:latin typeface="Calibri" panose="020F0502020204030204" pitchFamily="34" charset="0"/>
              </a:rPr>
              <a:t>Background</a:t>
            </a:r>
            <a:endParaRPr lang="zh-CN" altLang="en-US" sz="1200" b="1">
              <a:solidFill>
                <a:srgbClr val="1F3864"/>
              </a:solidFill>
              <a:latin typeface="Calibri" panose="020F0502020204030204" pitchFamily="34" charset="0"/>
            </a:endParaRPr>
          </a:p>
        </p:txBody>
      </p:sp>
      <p:sp>
        <p:nvSpPr>
          <p:cNvPr id="4" name="文本框 3">
            <a:extLst>
              <a:ext uri="{FF2B5EF4-FFF2-40B4-BE49-F238E27FC236}">
                <a16:creationId xmlns:a16="http://schemas.microsoft.com/office/drawing/2014/main" id="{1577F22D-166E-C64F-BA6E-18518E85D13D}"/>
              </a:ext>
            </a:extLst>
          </p:cNvPr>
          <p:cNvSpPr txBox="1"/>
          <p:nvPr/>
        </p:nvSpPr>
        <p:spPr>
          <a:xfrm>
            <a:off x="736600" y="812800"/>
            <a:ext cx="10718800" cy="461665"/>
          </a:xfrm>
          <a:prstGeom prst="rect">
            <a:avLst/>
          </a:prstGeom>
          <a:noFill/>
        </p:spPr>
        <p:txBody>
          <a:bodyPr vert="horz" wrap="square" lIns="0" tIns="0" rIns="0" bIns="0" rtlCol="0">
            <a:spAutoFit/>
          </a:bodyPr>
          <a:lstStyle/>
          <a:p>
            <a:r>
              <a:rPr lang="en-US" altLang="zh-CN" sz="3000" b="1">
                <a:solidFill>
                  <a:srgbClr val="1F3864"/>
                </a:solidFill>
                <a:latin typeface="Calibri" panose="020F0502020204030204" pitchFamily="34" charset="0"/>
              </a:rPr>
              <a:t>The Limits of Transkribus</a:t>
            </a:r>
            <a:endParaRPr lang="zh-CN" altLang="en-US" sz="3000" b="1">
              <a:solidFill>
                <a:srgbClr val="1F3864"/>
              </a:solidFill>
              <a:latin typeface="Calibri" panose="020F0502020204030204" pitchFamily="34" charset="0"/>
            </a:endParaRPr>
          </a:p>
        </p:txBody>
      </p:sp>
      <p:sp>
        <p:nvSpPr>
          <p:cNvPr id="5" name="矩形 4">
            <a:extLst>
              <a:ext uri="{FF2B5EF4-FFF2-40B4-BE49-F238E27FC236}">
                <a16:creationId xmlns:a16="http://schemas.microsoft.com/office/drawing/2014/main" id="{FCE3F8B7-6160-C44B-B507-CD6AAD3525F2}"/>
              </a:ext>
            </a:extLst>
          </p:cNvPr>
          <p:cNvSpPr/>
          <p:nvPr/>
        </p:nvSpPr>
        <p:spPr>
          <a:xfrm>
            <a:off x="762000" y="1549400"/>
            <a:ext cx="1397000" cy="381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7D9B0532-ED9A-D7E9-ED43-244DE6081EA0}"/>
              </a:ext>
            </a:extLst>
          </p:cNvPr>
          <p:cNvSpPr txBox="1"/>
          <p:nvPr/>
        </p:nvSpPr>
        <p:spPr>
          <a:xfrm>
            <a:off x="762000" y="6426200"/>
            <a:ext cx="8128000" cy="153888"/>
          </a:xfrm>
          <a:prstGeom prst="rect">
            <a:avLst/>
          </a:prstGeom>
          <a:noFill/>
        </p:spPr>
        <p:txBody>
          <a:bodyPr vert="horz" wrap="square" lIns="0" tIns="0" rIns="0" bIns="0" rtlCol="0">
            <a:spAutoFit/>
          </a:bodyPr>
          <a:lstStyle/>
          <a:p>
            <a:r>
              <a:rPr lang="en-US" altLang="zh-CN" sz="1000">
                <a:solidFill>
                  <a:srgbClr val="595959"/>
                </a:solidFill>
                <a:latin typeface="Calibri" panose="020F0502020204030204" pitchFamily="34" charset="0"/>
              </a:rPr>
              <a:t>DHG 502  |  Digital Approaches in Historical Research  |  Week 6  |  Part 1</a:t>
            </a:r>
            <a:endParaRPr lang="zh-CN" altLang="en-US" sz="1000">
              <a:solidFill>
                <a:srgbClr val="595959"/>
              </a:solidFill>
              <a:latin typeface="Calibri" panose="020F0502020204030204" pitchFamily="34" charset="0"/>
            </a:endParaRPr>
          </a:p>
        </p:txBody>
      </p:sp>
      <p:sp>
        <p:nvSpPr>
          <p:cNvPr id="7" name="文本框 6">
            <a:extLst>
              <a:ext uri="{FF2B5EF4-FFF2-40B4-BE49-F238E27FC236}">
                <a16:creationId xmlns:a16="http://schemas.microsoft.com/office/drawing/2014/main" id="{2F9BC92E-8DD0-31F1-6732-2F2C91CA9CF5}"/>
              </a:ext>
            </a:extLst>
          </p:cNvPr>
          <p:cNvSpPr txBox="1"/>
          <p:nvPr/>
        </p:nvSpPr>
        <p:spPr>
          <a:xfrm>
            <a:off x="10922000" y="6426200"/>
            <a:ext cx="508000" cy="153888"/>
          </a:xfrm>
          <a:prstGeom prst="rect">
            <a:avLst/>
          </a:prstGeom>
          <a:noFill/>
        </p:spPr>
        <p:txBody>
          <a:bodyPr vert="horz" wrap="square" lIns="0" tIns="0" rIns="0" bIns="0" rtlCol="0">
            <a:spAutoFit/>
          </a:bodyPr>
          <a:lstStyle/>
          <a:p>
            <a:pPr algn="r"/>
            <a:r>
              <a:rPr lang="en-US" altLang="zh-CN" sz="1000">
                <a:solidFill>
                  <a:srgbClr val="595959"/>
                </a:solidFill>
                <a:latin typeface="Calibri" panose="020F0502020204030204" pitchFamily="34" charset="0"/>
              </a:rPr>
              <a:t>4</a:t>
            </a:r>
            <a:endParaRPr lang="zh-CN" altLang="en-US" sz="1000">
              <a:solidFill>
                <a:srgbClr val="595959"/>
              </a:solidFill>
              <a:latin typeface="Calibri" panose="020F0502020204030204" pitchFamily="34" charset="0"/>
            </a:endParaRPr>
          </a:p>
        </p:txBody>
      </p:sp>
      <p:sp>
        <p:nvSpPr>
          <p:cNvPr id="8" name="矩形: 圆角 7">
            <a:extLst>
              <a:ext uri="{FF2B5EF4-FFF2-40B4-BE49-F238E27FC236}">
                <a16:creationId xmlns:a16="http://schemas.microsoft.com/office/drawing/2014/main" id="{78F1DC9C-3B4A-D1C8-6F12-F1AEFD3A4512}"/>
              </a:ext>
            </a:extLst>
          </p:cNvPr>
          <p:cNvSpPr/>
          <p:nvPr/>
        </p:nvSpPr>
        <p:spPr>
          <a:xfrm>
            <a:off x="762000" y="2159000"/>
            <a:ext cx="3302000" cy="24130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600">
                <a:solidFill>
                  <a:srgbClr val="404040"/>
                </a:solidFill>
                <a:latin typeface="Calibri" panose="020F0502020204030204" pitchFamily="34" charset="0"/>
              </a:rPr>
              <a:t>1.  Fine-tuning</a:t>
            </a:r>
          </a:p>
          <a:p>
            <a:pPr algn="ctr"/>
            <a:endParaRPr lang="en-US" altLang="zh-CN" sz="1600">
              <a:solidFill>
                <a:srgbClr val="404040"/>
              </a:solidFill>
              <a:latin typeface="Calibri" panose="020F0502020204030204" pitchFamily="34" charset="0"/>
            </a:endParaRPr>
          </a:p>
          <a:p>
            <a:pPr algn="ctr"/>
            <a:r>
              <a:rPr lang="en-US" altLang="zh-CN" sz="1600">
                <a:solidFill>
                  <a:srgbClr val="404040"/>
                </a:solidFill>
                <a:latin typeface="Calibri" panose="020F0502020204030204" pitchFamily="34" charset="0"/>
              </a:rPr>
              <a:t>Needs &gt;= 75 pages (~15,000 words) of perfect "ground truth"</a:t>
            </a:r>
            <a:endParaRPr lang="zh-CN" altLang="en-US" sz="1600">
              <a:solidFill>
                <a:srgbClr val="404040"/>
              </a:solidFill>
              <a:latin typeface="Calibri" panose="020F0502020204030204" pitchFamily="34" charset="0"/>
            </a:endParaRPr>
          </a:p>
        </p:txBody>
      </p:sp>
      <p:sp>
        <p:nvSpPr>
          <p:cNvPr id="9" name="矩形: 圆角 8">
            <a:extLst>
              <a:ext uri="{FF2B5EF4-FFF2-40B4-BE49-F238E27FC236}">
                <a16:creationId xmlns:a16="http://schemas.microsoft.com/office/drawing/2014/main" id="{E8E055CD-C1D0-AA23-235A-56B0AFDAA5B8}"/>
              </a:ext>
            </a:extLst>
          </p:cNvPr>
          <p:cNvSpPr/>
          <p:nvPr/>
        </p:nvSpPr>
        <p:spPr>
          <a:xfrm>
            <a:off x="4445000" y="2159000"/>
            <a:ext cx="3302000" cy="24130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600">
                <a:solidFill>
                  <a:srgbClr val="404040"/>
                </a:solidFill>
                <a:latin typeface="Calibri" panose="020F0502020204030204" pitchFamily="34" charset="0"/>
              </a:rPr>
              <a:t>2.  Cost &amp; speed</a:t>
            </a:r>
          </a:p>
          <a:p>
            <a:pPr algn="ctr"/>
            <a:endParaRPr lang="en-US" altLang="zh-CN" sz="1600">
              <a:solidFill>
                <a:srgbClr val="404040"/>
              </a:solidFill>
              <a:latin typeface="Calibri" panose="020F0502020204030204" pitchFamily="34" charset="0"/>
            </a:endParaRPr>
          </a:p>
          <a:p>
            <a:pPr algn="ctr"/>
            <a:r>
              <a:rPr lang="en-US" altLang="zh-CN" sz="1600">
                <a:solidFill>
                  <a:srgbClr val="404040"/>
                </a:solidFill>
                <a:latin typeface="Calibri" panose="020F0502020204030204" pitchFamily="34" charset="0"/>
              </a:rPr>
              <a:t>~.27 per page; 15-20 min, queues up to a day</a:t>
            </a:r>
            <a:endParaRPr lang="zh-CN" altLang="en-US" sz="1600">
              <a:solidFill>
                <a:srgbClr val="404040"/>
              </a:solidFill>
              <a:latin typeface="Calibri" panose="020F0502020204030204" pitchFamily="34" charset="0"/>
            </a:endParaRPr>
          </a:p>
        </p:txBody>
      </p:sp>
      <p:sp>
        <p:nvSpPr>
          <p:cNvPr id="10" name="矩形: 圆角 9">
            <a:extLst>
              <a:ext uri="{FF2B5EF4-FFF2-40B4-BE49-F238E27FC236}">
                <a16:creationId xmlns:a16="http://schemas.microsoft.com/office/drawing/2014/main" id="{EF962CD7-803E-138D-D6C5-ACB3912E781C}"/>
              </a:ext>
            </a:extLst>
          </p:cNvPr>
          <p:cNvSpPr/>
          <p:nvPr/>
        </p:nvSpPr>
        <p:spPr>
          <a:xfrm>
            <a:off x="8128000" y="2159000"/>
            <a:ext cx="3302000" cy="24130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600">
                <a:solidFill>
                  <a:srgbClr val="404040"/>
                </a:solidFill>
                <a:latin typeface="Calibri" panose="020F0502020204030204" pitchFamily="34" charset="0"/>
              </a:rPr>
              <a:t>3.  Overfitting</a:t>
            </a:r>
          </a:p>
          <a:p>
            <a:pPr algn="ctr"/>
            <a:endParaRPr lang="en-US" altLang="zh-CN" sz="1600">
              <a:solidFill>
                <a:srgbClr val="404040"/>
              </a:solidFill>
              <a:latin typeface="Calibri" panose="020F0502020204030204" pitchFamily="34" charset="0"/>
            </a:endParaRPr>
          </a:p>
          <a:p>
            <a:pPr algn="ctr"/>
            <a:r>
              <a:rPr lang="en-US" altLang="zh-CN" sz="1600">
                <a:solidFill>
                  <a:srgbClr val="404040"/>
                </a:solidFill>
                <a:latin typeface="Calibri" panose="020F0502020204030204" pitchFamily="34" charset="0"/>
              </a:rPr>
              <a:t>Better on one hand, worse on others - repeat for every new hand</a:t>
            </a:r>
            <a:endParaRPr lang="zh-CN" altLang="en-US" sz="1600">
              <a:solidFill>
                <a:srgbClr val="404040"/>
              </a:solidFill>
              <a:latin typeface="Calibri" panose="020F0502020204030204" pitchFamily="34" charset="0"/>
            </a:endParaRPr>
          </a:p>
        </p:txBody>
      </p:sp>
      <p:sp>
        <p:nvSpPr>
          <p:cNvPr id="11" name="矩形: 圆角 10">
            <a:extLst>
              <a:ext uri="{FF2B5EF4-FFF2-40B4-BE49-F238E27FC236}">
                <a16:creationId xmlns:a16="http://schemas.microsoft.com/office/drawing/2014/main" id="{6BA2AA1A-E15E-B683-3357-B60926460085}"/>
              </a:ext>
            </a:extLst>
          </p:cNvPr>
          <p:cNvSpPr/>
          <p:nvPr/>
        </p:nvSpPr>
        <p:spPr>
          <a:xfrm>
            <a:off x="762000" y="5080000"/>
            <a:ext cx="10668000" cy="762000"/>
          </a:xfrm>
          <a:prstGeom prst="roundRect">
            <a:avLst>
              <a:gd name="adj" fmla="val 10000"/>
            </a:avLst>
          </a:prstGeom>
          <a:solidFill>
            <a:srgbClr val="1F3864"/>
          </a:solidFill>
          <a:ln w="12700">
            <a:solidFill>
              <a:srgbClr val="1F3864"/>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2000" b="1">
                <a:solidFill>
                  <a:srgbClr val="FFFFFF"/>
                </a:solidFill>
                <a:latin typeface="Calibri" panose="020F0502020204030204" pitchFamily="34" charset="0"/>
              </a:rPr>
              <a:t>For most historians, HTR is "tantalizing but impractical."</a:t>
            </a:r>
            <a:endParaRPr lang="zh-CN" altLang="en-US" sz="2000" b="1">
              <a:solidFill>
                <a:srgbClr val="FFFFFF"/>
              </a:solidFill>
              <a:latin typeface="Calibri" panose="020F0502020204030204" pitchFamily="34" charset="0"/>
            </a:endParaRPr>
          </a:p>
        </p:txBody>
      </p:sp>
    </p:spTree>
    <p:extLst>
      <p:ext uri="{BB962C8B-B14F-4D97-AF65-F5344CB8AC3E}">
        <p14:creationId xmlns:p14="http://schemas.microsoft.com/office/powerpoint/2010/main" val="3852277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2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FA9113B-5D37-3053-F5FB-0692C930F92E}"/>
              </a:ext>
            </a:extLst>
          </p:cNvPr>
          <p:cNvSpPr/>
          <p:nvPr/>
        </p:nvSpPr>
        <p:spPr>
          <a:xfrm>
            <a:off x="0" y="0"/>
            <a:ext cx="12192000" cy="1016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243C6BAE-F5C0-D488-7D6A-557F007937CB}"/>
              </a:ext>
            </a:extLst>
          </p:cNvPr>
          <p:cNvSpPr txBox="1"/>
          <p:nvPr/>
        </p:nvSpPr>
        <p:spPr>
          <a:xfrm>
            <a:off x="762000" y="508000"/>
            <a:ext cx="8890000" cy="184666"/>
          </a:xfrm>
          <a:prstGeom prst="rect">
            <a:avLst/>
          </a:prstGeom>
          <a:noFill/>
        </p:spPr>
        <p:txBody>
          <a:bodyPr vert="horz" wrap="square" lIns="0" tIns="0" rIns="0" bIns="0" rtlCol="0">
            <a:spAutoFit/>
          </a:bodyPr>
          <a:lstStyle/>
          <a:p>
            <a:r>
              <a:rPr lang="en-US" altLang="zh-CN" sz="1200" b="1">
                <a:solidFill>
                  <a:srgbClr val="1F3864"/>
                </a:solidFill>
                <a:latin typeface="Calibri" panose="020F0502020204030204" pitchFamily="34" charset="0"/>
              </a:rPr>
              <a:t>The Shift</a:t>
            </a:r>
            <a:endParaRPr lang="zh-CN" altLang="en-US" sz="1200" b="1">
              <a:solidFill>
                <a:srgbClr val="1F3864"/>
              </a:solidFill>
              <a:latin typeface="Calibri" panose="020F0502020204030204" pitchFamily="34" charset="0"/>
            </a:endParaRPr>
          </a:p>
        </p:txBody>
      </p:sp>
      <p:sp>
        <p:nvSpPr>
          <p:cNvPr id="4" name="文本框 3">
            <a:extLst>
              <a:ext uri="{FF2B5EF4-FFF2-40B4-BE49-F238E27FC236}">
                <a16:creationId xmlns:a16="http://schemas.microsoft.com/office/drawing/2014/main" id="{DBBE00E7-8A1D-00AA-6E05-F258817201AA}"/>
              </a:ext>
            </a:extLst>
          </p:cNvPr>
          <p:cNvSpPr txBox="1"/>
          <p:nvPr/>
        </p:nvSpPr>
        <p:spPr>
          <a:xfrm>
            <a:off x="736600" y="812800"/>
            <a:ext cx="10718800" cy="461665"/>
          </a:xfrm>
          <a:prstGeom prst="rect">
            <a:avLst/>
          </a:prstGeom>
          <a:noFill/>
        </p:spPr>
        <p:txBody>
          <a:bodyPr vert="horz" wrap="square" lIns="0" tIns="0" rIns="0" bIns="0" rtlCol="0">
            <a:spAutoFit/>
          </a:bodyPr>
          <a:lstStyle/>
          <a:p>
            <a:r>
              <a:rPr lang="en-US" altLang="zh-CN" sz="3000" b="1">
                <a:solidFill>
                  <a:srgbClr val="1F3864"/>
                </a:solidFill>
                <a:latin typeface="Calibri" panose="020F0502020204030204" pitchFamily="34" charset="0"/>
              </a:rPr>
              <a:t>Two Workflows: Traditional HTR vs. Multimodal LLM</a:t>
            </a:r>
            <a:endParaRPr lang="zh-CN" altLang="en-US" sz="3000" b="1">
              <a:solidFill>
                <a:srgbClr val="1F3864"/>
              </a:solidFill>
              <a:latin typeface="Calibri" panose="020F0502020204030204" pitchFamily="34" charset="0"/>
            </a:endParaRPr>
          </a:p>
        </p:txBody>
      </p:sp>
      <p:sp>
        <p:nvSpPr>
          <p:cNvPr id="5" name="矩形 4">
            <a:extLst>
              <a:ext uri="{FF2B5EF4-FFF2-40B4-BE49-F238E27FC236}">
                <a16:creationId xmlns:a16="http://schemas.microsoft.com/office/drawing/2014/main" id="{3C8B8CC3-F809-BCEB-7215-87D38EA52BB7}"/>
              </a:ext>
            </a:extLst>
          </p:cNvPr>
          <p:cNvSpPr/>
          <p:nvPr/>
        </p:nvSpPr>
        <p:spPr>
          <a:xfrm>
            <a:off x="762000" y="1549400"/>
            <a:ext cx="1397000" cy="381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C8C3CEE0-04F5-F5A3-4529-BACD333D778C}"/>
              </a:ext>
            </a:extLst>
          </p:cNvPr>
          <p:cNvSpPr txBox="1"/>
          <p:nvPr/>
        </p:nvSpPr>
        <p:spPr>
          <a:xfrm>
            <a:off x="762000" y="6426200"/>
            <a:ext cx="8128000" cy="153888"/>
          </a:xfrm>
          <a:prstGeom prst="rect">
            <a:avLst/>
          </a:prstGeom>
          <a:noFill/>
        </p:spPr>
        <p:txBody>
          <a:bodyPr vert="horz" wrap="square" lIns="0" tIns="0" rIns="0" bIns="0" rtlCol="0">
            <a:spAutoFit/>
          </a:bodyPr>
          <a:lstStyle/>
          <a:p>
            <a:r>
              <a:rPr lang="en-US" altLang="zh-CN" sz="1000">
                <a:solidFill>
                  <a:srgbClr val="595959"/>
                </a:solidFill>
                <a:latin typeface="Calibri" panose="020F0502020204030204" pitchFamily="34" charset="0"/>
              </a:rPr>
              <a:t>DHG 502  |  Digital Approaches in Historical Research  |  Week 6  |  Part 1</a:t>
            </a:r>
            <a:endParaRPr lang="zh-CN" altLang="en-US" sz="1000">
              <a:solidFill>
                <a:srgbClr val="595959"/>
              </a:solidFill>
              <a:latin typeface="Calibri" panose="020F0502020204030204" pitchFamily="34" charset="0"/>
            </a:endParaRPr>
          </a:p>
        </p:txBody>
      </p:sp>
      <p:sp>
        <p:nvSpPr>
          <p:cNvPr id="7" name="文本框 6">
            <a:extLst>
              <a:ext uri="{FF2B5EF4-FFF2-40B4-BE49-F238E27FC236}">
                <a16:creationId xmlns:a16="http://schemas.microsoft.com/office/drawing/2014/main" id="{AE3FABFA-B7D6-7792-3D5C-F0749C67AC69}"/>
              </a:ext>
            </a:extLst>
          </p:cNvPr>
          <p:cNvSpPr txBox="1"/>
          <p:nvPr/>
        </p:nvSpPr>
        <p:spPr>
          <a:xfrm>
            <a:off x="10922000" y="6426200"/>
            <a:ext cx="508000" cy="153888"/>
          </a:xfrm>
          <a:prstGeom prst="rect">
            <a:avLst/>
          </a:prstGeom>
          <a:noFill/>
        </p:spPr>
        <p:txBody>
          <a:bodyPr vert="horz" wrap="square" lIns="0" tIns="0" rIns="0" bIns="0" rtlCol="0">
            <a:spAutoFit/>
          </a:bodyPr>
          <a:lstStyle/>
          <a:p>
            <a:pPr algn="r"/>
            <a:r>
              <a:rPr lang="en-US" altLang="zh-CN" sz="1000">
                <a:solidFill>
                  <a:srgbClr val="595959"/>
                </a:solidFill>
                <a:latin typeface="Calibri" panose="020F0502020204030204" pitchFamily="34" charset="0"/>
              </a:rPr>
              <a:t>5</a:t>
            </a:r>
            <a:endParaRPr lang="zh-CN" altLang="en-US" sz="1000">
              <a:solidFill>
                <a:srgbClr val="595959"/>
              </a:solidFill>
              <a:latin typeface="Calibri" panose="020F0502020204030204" pitchFamily="34" charset="0"/>
            </a:endParaRPr>
          </a:p>
        </p:txBody>
      </p:sp>
      <p:sp>
        <p:nvSpPr>
          <p:cNvPr id="8" name="文本框 7">
            <a:extLst>
              <a:ext uri="{FF2B5EF4-FFF2-40B4-BE49-F238E27FC236}">
                <a16:creationId xmlns:a16="http://schemas.microsoft.com/office/drawing/2014/main" id="{D469AC85-054C-3AC9-79AD-9065135F663D}"/>
              </a:ext>
            </a:extLst>
          </p:cNvPr>
          <p:cNvSpPr txBox="1"/>
          <p:nvPr/>
        </p:nvSpPr>
        <p:spPr>
          <a:xfrm>
            <a:off x="762000" y="1930400"/>
            <a:ext cx="4826000" cy="246221"/>
          </a:xfrm>
          <a:prstGeom prst="rect">
            <a:avLst/>
          </a:prstGeom>
          <a:noFill/>
        </p:spPr>
        <p:txBody>
          <a:bodyPr vert="horz" wrap="square" lIns="0" tIns="0" rIns="0" bIns="0" rtlCol="0">
            <a:spAutoFit/>
          </a:bodyPr>
          <a:lstStyle/>
          <a:p>
            <a:r>
              <a:rPr lang="en-US" altLang="zh-CN" sz="1600" b="1">
                <a:solidFill>
                  <a:srgbClr val="404040"/>
                </a:solidFill>
                <a:latin typeface="Calibri" panose="020F0502020204030204" pitchFamily="34" charset="0"/>
              </a:rPr>
              <a:t>Traditional HTR</a:t>
            </a:r>
            <a:endParaRPr lang="zh-CN" altLang="en-US" sz="1600" b="1">
              <a:solidFill>
                <a:srgbClr val="404040"/>
              </a:solidFill>
              <a:latin typeface="Calibri" panose="020F0502020204030204" pitchFamily="34" charset="0"/>
            </a:endParaRPr>
          </a:p>
        </p:txBody>
      </p:sp>
      <p:sp>
        <p:nvSpPr>
          <p:cNvPr id="9" name="文本框 8">
            <a:extLst>
              <a:ext uri="{FF2B5EF4-FFF2-40B4-BE49-F238E27FC236}">
                <a16:creationId xmlns:a16="http://schemas.microsoft.com/office/drawing/2014/main" id="{86ADF560-2192-2A02-DFDF-D4EF5B7C63E9}"/>
              </a:ext>
            </a:extLst>
          </p:cNvPr>
          <p:cNvSpPr txBox="1"/>
          <p:nvPr/>
        </p:nvSpPr>
        <p:spPr>
          <a:xfrm>
            <a:off x="6604000" y="1930400"/>
            <a:ext cx="4826000" cy="246221"/>
          </a:xfrm>
          <a:prstGeom prst="rect">
            <a:avLst/>
          </a:prstGeom>
          <a:noFill/>
        </p:spPr>
        <p:txBody>
          <a:bodyPr vert="horz" wrap="square" lIns="0" tIns="0" rIns="0" bIns="0" rtlCol="0">
            <a:spAutoFit/>
          </a:bodyPr>
          <a:lstStyle/>
          <a:p>
            <a:r>
              <a:rPr lang="en-US" altLang="zh-CN" sz="1600" b="1">
                <a:solidFill>
                  <a:srgbClr val="1F3864"/>
                </a:solidFill>
                <a:latin typeface="Calibri" panose="020F0502020204030204" pitchFamily="34" charset="0"/>
              </a:rPr>
              <a:t>Multimodal LLM</a:t>
            </a:r>
            <a:endParaRPr lang="zh-CN" altLang="en-US" sz="1600" b="1">
              <a:solidFill>
                <a:srgbClr val="1F3864"/>
              </a:solidFill>
              <a:latin typeface="Calibri" panose="020F0502020204030204" pitchFamily="34" charset="0"/>
            </a:endParaRPr>
          </a:p>
        </p:txBody>
      </p:sp>
      <p:sp>
        <p:nvSpPr>
          <p:cNvPr id="10" name="矩形: 圆角 9">
            <a:extLst>
              <a:ext uri="{FF2B5EF4-FFF2-40B4-BE49-F238E27FC236}">
                <a16:creationId xmlns:a16="http://schemas.microsoft.com/office/drawing/2014/main" id="{B8801537-FE41-6CD3-4579-4610032C771A}"/>
              </a:ext>
            </a:extLst>
          </p:cNvPr>
          <p:cNvSpPr/>
          <p:nvPr/>
        </p:nvSpPr>
        <p:spPr>
          <a:xfrm>
            <a:off x="762000" y="2413000"/>
            <a:ext cx="4826000" cy="7112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500">
                <a:solidFill>
                  <a:srgbClr val="404040"/>
                </a:solidFill>
                <a:latin typeface="Calibri" panose="020F0502020204030204" pitchFamily="34" charset="0"/>
              </a:rPr>
              <a:t>1.  Image pre-processing</a:t>
            </a:r>
            <a:endParaRPr lang="zh-CN" altLang="en-US" sz="1500">
              <a:solidFill>
                <a:srgbClr val="404040"/>
              </a:solidFill>
              <a:latin typeface="Calibri" panose="020F0502020204030204" pitchFamily="34" charset="0"/>
            </a:endParaRPr>
          </a:p>
        </p:txBody>
      </p:sp>
      <p:sp>
        <p:nvSpPr>
          <p:cNvPr id="11" name="矩形: 圆角 10">
            <a:extLst>
              <a:ext uri="{FF2B5EF4-FFF2-40B4-BE49-F238E27FC236}">
                <a16:creationId xmlns:a16="http://schemas.microsoft.com/office/drawing/2014/main" id="{A26D046D-37AA-0713-E865-940E420F08CF}"/>
              </a:ext>
            </a:extLst>
          </p:cNvPr>
          <p:cNvSpPr/>
          <p:nvPr/>
        </p:nvSpPr>
        <p:spPr>
          <a:xfrm>
            <a:off x="762000" y="3403600"/>
            <a:ext cx="4826000" cy="7112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500">
                <a:solidFill>
                  <a:srgbClr val="404040"/>
                </a:solidFill>
                <a:latin typeface="Calibri" panose="020F0502020204030204" pitchFamily="34" charset="0"/>
              </a:rPr>
              <a:t>2.  Segmentation (lines/words/chars)</a:t>
            </a:r>
            <a:endParaRPr lang="zh-CN" altLang="en-US" sz="1500">
              <a:solidFill>
                <a:srgbClr val="404040"/>
              </a:solidFill>
              <a:latin typeface="Calibri" panose="020F0502020204030204" pitchFamily="34" charset="0"/>
            </a:endParaRPr>
          </a:p>
        </p:txBody>
      </p:sp>
      <p:sp>
        <p:nvSpPr>
          <p:cNvPr id="12" name="矩形: 圆角 11">
            <a:extLst>
              <a:ext uri="{FF2B5EF4-FFF2-40B4-BE49-F238E27FC236}">
                <a16:creationId xmlns:a16="http://schemas.microsoft.com/office/drawing/2014/main" id="{D9C8F882-F760-DF85-49BD-249CB4C91868}"/>
              </a:ext>
            </a:extLst>
          </p:cNvPr>
          <p:cNvSpPr/>
          <p:nvPr/>
        </p:nvSpPr>
        <p:spPr>
          <a:xfrm>
            <a:off x="762000" y="4394200"/>
            <a:ext cx="4826000" cy="7112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500">
                <a:solidFill>
                  <a:srgbClr val="404040"/>
                </a:solidFill>
                <a:latin typeface="Calibri" panose="020F0502020204030204" pitchFamily="34" charset="0"/>
              </a:rPr>
              <a:t>3.  Feature extraction + classification</a:t>
            </a:r>
            <a:endParaRPr lang="zh-CN" altLang="en-US" sz="1500">
              <a:solidFill>
                <a:srgbClr val="404040"/>
              </a:solidFill>
              <a:latin typeface="Calibri" panose="020F0502020204030204" pitchFamily="34" charset="0"/>
            </a:endParaRPr>
          </a:p>
        </p:txBody>
      </p:sp>
      <p:sp>
        <p:nvSpPr>
          <p:cNvPr id="13" name="矩形: 圆角 12">
            <a:extLst>
              <a:ext uri="{FF2B5EF4-FFF2-40B4-BE49-F238E27FC236}">
                <a16:creationId xmlns:a16="http://schemas.microsoft.com/office/drawing/2014/main" id="{181F14DD-F55B-90BD-74EC-C5DBEBA11AD7}"/>
              </a:ext>
            </a:extLst>
          </p:cNvPr>
          <p:cNvSpPr/>
          <p:nvPr/>
        </p:nvSpPr>
        <p:spPr>
          <a:xfrm>
            <a:off x="762000" y="5384800"/>
            <a:ext cx="4826000" cy="7112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500">
                <a:solidFill>
                  <a:srgbClr val="404040"/>
                </a:solidFill>
                <a:latin typeface="Calibri" panose="020F0502020204030204" pitchFamily="34" charset="0"/>
              </a:rPr>
              <a:t>4.  Transcription</a:t>
            </a:r>
            <a:endParaRPr lang="zh-CN" altLang="en-US" sz="1500">
              <a:solidFill>
                <a:srgbClr val="404040"/>
              </a:solidFill>
              <a:latin typeface="Calibri" panose="020F0502020204030204" pitchFamily="34" charset="0"/>
            </a:endParaRPr>
          </a:p>
        </p:txBody>
      </p:sp>
      <p:sp>
        <p:nvSpPr>
          <p:cNvPr id="14" name="矩形: 圆角 13">
            <a:extLst>
              <a:ext uri="{FF2B5EF4-FFF2-40B4-BE49-F238E27FC236}">
                <a16:creationId xmlns:a16="http://schemas.microsoft.com/office/drawing/2014/main" id="{6F0EF2D8-2CC8-1B01-AE15-55D906F7C7E1}"/>
              </a:ext>
            </a:extLst>
          </p:cNvPr>
          <p:cNvSpPr/>
          <p:nvPr/>
        </p:nvSpPr>
        <p:spPr>
          <a:xfrm>
            <a:off x="6604000" y="2413000"/>
            <a:ext cx="4826000" cy="711200"/>
          </a:xfrm>
          <a:prstGeom prst="roundRect">
            <a:avLst>
              <a:gd name="adj" fmla="val 10000"/>
            </a:avLst>
          </a:prstGeom>
          <a:solidFill>
            <a:srgbClr val="1F3864"/>
          </a:solidFill>
          <a:ln w="12700">
            <a:solidFill>
              <a:srgbClr val="1F3864"/>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500" b="1">
                <a:solidFill>
                  <a:srgbClr val="FFFFFF"/>
                </a:solidFill>
                <a:latin typeface="Calibri" panose="020F0502020204030204" pitchFamily="34" charset="0"/>
              </a:rPr>
              <a:t>Image  -&gt;  Multimodal LLM (API)</a:t>
            </a:r>
            <a:endParaRPr lang="zh-CN" altLang="en-US" sz="1500" b="1">
              <a:solidFill>
                <a:srgbClr val="FFFFFF"/>
              </a:solidFill>
              <a:latin typeface="Calibri" panose="020F0502020204030204" pitchFamily="34" charset="0"/>
            </a:endParaRPr>
          </a:p>
        </p:txBody>
      </p:sp>
      <p:sp>
        <p:nvSpPr>
          <p:cNvPr id="15" name="矩形: 圆角 14">
            <a:extLst>
              <a:ext uri="{FF2B5EF4-FFF2-40B4-BE49-F238E27FC236}">
                <a16:creationId xmlns:a16="http://schemas.microsoft.com/office/drawing/2014/main" id="{501CC970-CACC-4ABD-81D4-3D249D51061E}"/>
              </a:ext>
            </a:extLst>
          </p:cNvPr>
          <p:cNvSpPr/>
          <p:nvPr/>
        </p:nvSpPr>
        <p:spPr>
          <a:xfrm>
            <a:off x="6604000" y="4394200"/>
            <a:ext cx="4826000" cy="711200"/>
          </a:xfrm>
          <a:prstGeom prst="roundRect">
            <a:avLst>
              <a:gd name="adj" fmla="val 10000"/>
            </a:avLst>
          </a:prstGeom>
          <a:solidFill>
            <a:srgbClr val="1F3864"/>
          </a:solidFill>
          <a:ln w="12700">
            <a:solidFill>
              <a:srgbClr val="1F3864"/>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500" b="1">
                <a:solidFill>
                  <a:srgbClr val="FFFFFF"/>
                </a:solidFill>
                <a:latin typeface="Calibri" panose="020F0502020204030204" pitchFamily="34" charset="0"/>
              </a:rPr>
              <a:t>Transcription</a:t>
            </a:r>
            <a:endParaRPr lang="zh-CN" altLang="en-US" sz="1500" b="1">
              <a:solidFill>
                <a:srgbClr val="FFFFFF"/>
              </a:solidFill>
              <a:latin typeface="Calibri" panose="020F0502020204030204" pitchFamily="34" charset="0"/>
            </a:endParaRPr>
          </a:p>
        </p:txBody>
      </p:sp>
      <p:sp>
        <p:nvSpPr>
          <p:cNvPr id="16" name="箭头: 下 15">
            <a:extLst>
              <a:ext uri="{FF2B5EF4-FFF2-40B4-BE49-F238E27FC236}">
                <a16:creationId xmlns:a16="http://schemas.microsoft.com/office/drawing/2014/main" id="{46E80ECD-B9DF-4067-1B44-BDA5D212ADC6}"/>
              </a:ext>
            </a:extLst>
          </p:cNvPr>
          <p:cNvSpPr/>
          <p:nvPr/>
        </p:nvSpPr>
        <p:spPr>
          <a:xfrm>
            <a:off x="3022600" y="3124200"/>
            <a:ext cx="304800" cy="279400"/>
          </a:xfrm>
          <a:prstGeom prst="downArrow">
            <a:avLst/>
          </a:prstGeom>
          <a:solidFill>
            <a:srgbClr val="5959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下 16">
            <a:extLst>
              <a:ext uri="{FF2B5EF4-FFF2-40B4-BE49-F238E27FC236}">
                <a16:creationId xmlns:a16="http://schemas.microsoft.com/office/drawing/2014/main" id="{9B8F4778-DD80-1CE3-251A-FED59BEC3706}"/>
              </a:ext>
            </a:extLst>
          </p:cNvPr>
          <p:cNvSpPr/>
          <p:nvPr/>
        </p:nvSpPr>
        <p:spPr>
          <a:xfrm>
            <a:off x="3022600" y="4114800"/>
            <a:ext cx="304800" cy="279400"/>
          </a:xfrm>
          <a:prstGeom prst="downArrow">
            <a:avLst/>
          </a:prstGeom>
          <a:solidFill>
            <a:srgbClr val="5959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下 17">
            <a:extLst>
              <a:ext uri="{FF2B5EF4-FFF2-40B4-BE49-F238E27FC236}">
                <a16:creationId xmlns:a16="http://schemas.microsoft.com/office/drawing/2014/main" id="{1EB606A1-5F43-3372-230B-FE7C37B6DDE2}"/>
              </a:ext>
            </a:extLst>
          </p:cNvPr>
          <p:cNvSpPr/>
          <p:nvPr/>
        </p:nvSpPr>
        <p:spPr>
          <a:xfrm>
            <a:off x="3022600" y="5105400"/>
            <a:ext cx="304800" cy="279400"/>
          </a:xfrm>
          <a:prstGeom prst="downArrow">
            <a:avLst/>
          </a:prstGeom>
          <a:solidFill>
            <a:srgbClr val="5959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8">
            <a:extLst>
              <a:ext uri="{FF2B5EF4-FFF2-40B4-BE49-F238E27FC236}">
                <a16:creationId xmlns:a16="http://schemas.microsoft.com/office/drawing/2014/main" id="{4C9ADC58-CB4C-507D-545D-C525C6219D23}"/>
              </a:ext>
            </a:extLst>
          </p:cNvPr>
          <p:cNvSpPr/>
          <p:nvPr/>
        </p:nvSpPr>
        <p:spPr>
          <a:xfrm>
            <a:off x="8864600" y="3124200"/>
            <a:ext cx="304800" cy="1270000"/>
          </a:xfrm>
          <a:prstGeom prst="downArrow">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4F4A412F-BFD2-0DA5-AD36-2573C1710280}"/>
              </a:ext>
            </a:extLst>
          </p:cNvPr>
          <p:cNvSpPr/>
          <p:nvPr/>
        </p:nvSpPr>
        <p:spPr>
          <a:xfrm>
            <a:off x="762000" y="5969000"/>
            <a:ext cx="10668000" cy="635000"/>
          </a:xfrm>
          <a:prstGeom prst="roundRect">
            <a:avLst>
              <a:gd name="adj" fmla="val 10000"/>
            </a:avLst>
          </a:prstGeom>
          <a:solidFill>
            <a:srgbClr val="FFFFFF"/>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700" b="1">
                <a:solidFill>
                  <a:srgbClr val="1F3864"/>
                </a:solidFill>
                <a:latin typeface="Calibri" panose="020F0502020204030204" pitchFamily="34" charset="0"/>
              </a:rPr>
              <a:t>LLM skips pre-processing and segmentation - no fine-tuning needed</a:t>
            </a:r>
            <a:endParaRPr lang="zh-CN" altLang="en-US" sz="1700" b="1">
              <a:solidFill>
                <a:srgbClr val="1F3864"/>
              </a:solidFill>
              <a:latin typeface="Calibri" panose="020F0502020204030204" pitchFamily="34" charset="0"/>
            </a:endParaRPr>
          </a:p>
        </p:txBody>
      </p:sp>
    </p:spTree>
    <p:extLst>
      <p:ext uri="{BB962C8B-B14F-4D97-AF65-F5344CB8AC3E}">
        <p14:creationId xmlns:p14="http://schemas.microsoft.com/office/powerpoint/2010/main" val="1953281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00"/>
                                        <p:tgtEl>
                                          <p:spTgt spid="10"/>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200"/>
                                        <p:tgtEl>
                                          <p:spTgt spid="16"/>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200"/>
                                        <p:tgtEl>
                                          <p:spTgt spid="11"/>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200"/>
                                        <p:tgtEl>
                                          <p:spTgt spid="17"/>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p:tgtEl>
                                          <p:spTgt spid="12"/>
                                        </p:tgtEl>
                                      </p:cBhvr>
                                    </p:animEffect>
                                  </p:childTnLst>
                                </p:cTn>
                              </p:par>
                            </p:childTnLst>
                          </p:cTn>
                        </p:par>
                        <p:par>
                          <p:cTn id="28" fill="hold">
                            <p:stCondLst>
                              <p:cond delay="1200"/>
                            </p:stCondLst>
                            <p:childTnLst>
                              <p:par>
                                <p:cTn id="29" presetID="10" presetClass="entr" presetSubtype="0"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200"/>
                                        <p:tgtEl>
                                          <p:spTgt spid="18"/>
                                        </p:tgtEl>
                                      </p:cBhvr>
                                    </p:animEffect>
                                  </p:childTnLst>
                                </p:cTn>
                              </p:par>
                            </p:childTnLst>
                          </p:cTn>
                        </p:par>
                        <p:par>
                          <p:cTn id="32" fill="hold">
                            <p:stCondLst>
                              <p:cond delay="14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2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200"/>
                                        <p:tgtEl>
                                          <p:spTgt spid="9"/>
                                        </p:tgtEl>
                                      </p:cBhvr>
                                    </p:animEffect>
                                  </p:childTnLst>
                                </p:cTn>
                              </p:par>
                            </p:childTnLst>
                          </p:cTn>
                        </p:par>
                        <p:par>
                          <p:cTn id="41" fill="hold">
                            <p:stCondLst>
                              <p:cond delay="20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200"/>
                                        <p:tgtEl>
                                          <p:spTgt spid="14"/>
                                        </p:tgtEl>
                                      </p:cBhvr>
                                    </p:animEffect>
                                  </p:childTnLst>
                                </p:cTn>
                              </p:par>
                            </p:childTnLst>
                          </p:cTn>
                        </p:par>
                        <p:par>
                          <p:cTn id="45" fill="hold">
                            <p:stCondLst>
                              <p:cond delay="400"/>
                            </p:stCondLst>
                            <p:childTnLst>
                              <p:par>
                                <p:cTn id="46" presetID="10" presetClass="entr" presetSubtype="0" fill="hold" grpId="0" nodeType="after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200"/>
                                        <p:tgtEl>
                                          <p:spTgt spid="19"/>
                                        </p:tgtEl>
                                      </p:cBhvr>
                                    </p:animEffect>
                                  </p:childTnLst>
                                </p:cTn>
                              </p:par>
                            </p:childTnLst>
                          </p:cTn>
                        </p:par>
                        <p:par>
                          <p:cTn id="49" fill="hold">
                            <p:stCondLst>
                              <p:cond delay="600"/>
                            </p:stCondLst>
                            <p:childTnLst>
                              <p:par>
                                <p:cTn id="50" presetID="10" presetClass="entr" presetSubtype="0"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2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2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557DB47-5B68-032F-F8A6-05E9A7875DF6}"/>
              </a:ext>
            </a:extLst>
          </p:cNvPr>
          <p:cNvSpPr/>
          <p:nvPr/>
        </p:nvSpPr>
        <p:spPr>
          <a:xfrm>
            <a:off x="0" y="0"/>
            <a:ext cx="12192000" cy="1016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7ED642AD-E95E-F7E0-35D7-0387AD112431}"/>
              </a:ext>
            </a:extLst>
          </p:cNvPr>
          <p:cNvSpPr txBox="1"/>
          <p:nvPr/>
        </p:nvSpPr>
        <p:spPr>
          <a:xfrm>
            <a:off x="762000" y="508000"/>
            <a:ext cx="8890000" cy="184666"/>
          </a:xfrm>
          <a:prstGeom prst="rect">
            <a:avLst/>
          </a:prstGeom>
          <a:noFill/>
        </p:spPr>
        <p:txBody>
          <a:bodyPr vert="horz" wrap="square" lIns="0" tIns="0" rIns="0" bIns="0" rtlCol="0">
            <a:spAutoFit/>
          </a:bodyPr>
          <a:lstStyle/>
          <a:p>
            <a:r>
              <a:rPr lang="en-US" altLang="zh-CN" sz="1200" b="1">
                <a:solidFill>
                  <a:srgbClr val="1F3864"/>
                </a:solidFill>
                <a:latin typeface="Calibri" panose="020F0502020204030204" pitchFamily="34" charset="0"/>
              </a:rPr>
              <a:t>The Question</a:t>
            </a:r>
            <a:endParaRPr lang="zh-CN" altLang="en-US" sz="1200" b="1">
              <a:solidFill>
                <a:srgbClr val="1F3864"/>
              </a:solidFill>
              <a:latin typeface="Calibri" panose="020F0502020204030204" pitchFamily="34" charset="0"/>
            </a:endParaRPr>
          </a:p>
        </p:txBody>
      </p:sp>
      <p:sp>
        <p:nvSpPr>
          <p:cNvPr id="4" name="文本框 3">
            <a:extLst>
              <a:ext uri="{FF2B5EF4-FFF2-40B4-BE49-F238E27FC236}">
                <a16:creationId xmlns:a16="http://schemas.microsoft.com/office/drawing/2014/main" id="{AFA8B6DB-0C7A-B5A6-3319-31E6F5ACD574}"/>
              </a:ext>
            </a:extLst>
          </p:cNvPr>
          <p:cNvSpPr txBox="1"/>
          <p:nvPr/>
        </p:nvSpPr>
        <p:spPr>
          <a:xfrm>
            <a:off x="736600" y="812800"/>
            <a:ext cx="10718800" cy="461665"/>
          </a:xfrm>
          <a:prstGeom prst="rect">
            <a:avLst/>
          </a:prstGeom>
          <a:noFill/>
        </p:spPr>
        <p:txBody>
          <a:bodyPr vert="horz" wrap="square" lIns="0" tIns="0" rIns="0" bIns="0" rtlCol="0">
            <a:spAutoFit/>
          </a:bodyPr>
          <a:lstStyle/>
          <a:p>
            <a:r>
              <a:rPr lang="en-US" altLang="zh-CN" sz="3000" b="1">
                <a:solidFill>
                  <a:srgbClr val="1F3864"/>
                </a:solidFill>
                <a:latin typeface="Calibri" panose="020F0502020204030204" pitchFamily="34" charset="0"/>
              </a:rPr>
              <a:t>Research Question</a:t>
            </a:r>
            <a:endParaRPr lang="zh-CN" altLang="en-US" sz="3000" b="1">
              <a:solidFill>
                <a:srgbClr val="1F3864"/>
              </a:solidFill>
              <a:latin typeface="Calibri" panose="020F0502020204030204" pitchFamily="34" charset="0"/>
            </a:endParaRPr>
          </a:p>
        </p:txBody>
      </p:sp>
      <p:sp>
        <p:nvSpPr>
          <p:cNvPr id="5" name="矩形 4">
            <a:extLst>
              <a:ext uri="{FF2B5EF4-FFF2-40B4-BE49-F238E27FC236}">
                <a16:creationId xmlns:a16="http://schemas.microsoft.com/office/drawing/2014/main" id="{1FC9C790-B651-95B5-33B7-D49635B9BD9A}"/>
              </a:ext>
            </a:extLst>
          </p:cNvPr>
          <p:cNvSpPr/>
          <p:nvPr/>
        </p:nvSpPr>
        <p:spPr>
          <a:xfrm>
            <a:off x="762000" y="1549400"/>
            <a:ext cx="1397000" cy="381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B9F1840F-C2C6-BD26-62D8-E8CE74929332}"/>
              </a:ext>
            </a:extLst>
          </p:cNvPr>
          <p:cNvSpPr txBox="1"/>
          <p:nvPr/>
        </p:nvSpPr>
        <p:spPr>
          <a:xfrm>
            <a:off x="762000" y="6426200"/>
            <a:ext cx="8128000" cy="153888"/>
          </a:xfrm>
          <a:prstGeom prst="rect">
            <a:avLst/>
          </a:prstGeom>
          <a:noFill/>
        </p:spPr>
        <p:txBody>
          <a:bodyPr vert="horz" wrap="square" lIns="0" tIns="0" rIns="0" bIns="0" rtlCol="0">
            <a:spAutoFit/>
          </a:bodyPr>
          <a:lstStyle/>
          <a:p>
            <a:r>
              <a:rPr lang="en-US" altLang="zh-CN" sz="1000">
                <a:solidFill>
                  <a:srgbClr val="595959"/>
                </a:solidFill>
                <a:latin typeface="Calibri" panose="020F0502020204030204" pitchFamily="34" charset="0"/>
              </a:rPr>
              <a:t>DHG 502  |  Digital Approaches in Historical Research  |  Week 6  |  Part 1</a:t>
            </a:r>
            <a:endParaRPr lang="zh-CN" altLang="en-US" sz="1000">
              <a:solidFill>
                <a:srgbClr val="595959"/>
              </a:solidFill>
              <a:latin typeface="Calibri" panose="020F0502020204030204" pitchFamily="34" charset="0"/>
            </a:endParaRPr>
          </a:p>
        </p:txBody>
      </p:sp>
      <p:sp>
        <p:nvSpPr>
          <p:cNvPr id="7" name="文本框 6">
            <a:extLst>
              <a:ext uri="{FF2B5EF4-FFF2-40B4-BE49-F238E27FC236}">
                <a16:creationId xmlns:a16="http://schemas.microsoft.com/office/drawing/2014/main" id="{3A3E3660-5AFE-163F-3E7F-AB5EE4909297}"/>
              </a:ext>
            </a:extLst>
          </p:cNvPr>
          <p:cNvSpPr txBox="1"/>
          <p:nvPr/>
        </p:nvSpPr>
        <p:spPr>
          <a:xfrm>
            <a:off x="10922000" y="6426200"/>
            <a:ext cx="508000" cy="153888"/>
          </a:xfrm>
          <a:prstGeom prst="rect">
            <a:avLst/>
          </a:prstGeom>
          <a:noFill/>
        </p:spPr>
        <p:txBody>
          <a:bodyPr vert="horz" wrap="square" lIns="0" tIns="0" rIns="0" bIns="0" rtlCol="0">
            <a:spAutoFit/>
          </a:bodyPr>
          <a:lstStyle/>
          <a:p>
            <a:pPr algn="r"/>
            <a:r>
              <a:rPr lang="en-US" altLang="zh-CN" sz="1000">
                <a:solidFill>
                  <a:srgbClr val="595959"/>
                </a:solidFill>
                <a:latin typeface="Calibri" panose="020F0502020204030204" pitchFamily="34" charset="0"/>
              </a:rPr>
              <a:t>6</a:t>
            </a:r>
            <a:endParaRPr lang="zh-CN" altLang="en-US" sz="1000">
              <a:solidFill>
                <a:srgbClr val="595959"/>
              </a:solidFill>
              <a:latin typeface="Calibri" panose="020F0502020204030204" pitchFamily="34" charset="0"/>
            </a:endParaRPr>
          </a:p>
        </p:txBody>
      </p:sp>
      <p:sp>
        <p:nvSpPr>
          <p:cNvPr id="8" name="矩形: 圆角 7">
            <a:extLst>
              <a:ext uri="{FF2B5EF4-FFF2-40B4-BE49-F238E27FC236}">
                <a16:creationId xmlns:a16="http://schemas.microsoft.com/office/drawing/2014/main" id="{105D97C7-0420-33CE-942A-F4C210A0B4DA}"/>
              </a:ext>
            </a:extLst>
          </p:cNvPr>
          <p:cNvSpPr/>
          <p:nvPr/>
        </p:nvSpPr>
        <p:spPr>
          <a:xfrm>
            <a:off x="889000" y="2159000"/>
            <a:ext cx="10414000" cy="2286000"/>
          </a:xfrm>
          <a:prstGeom prst="roundRect">
            <a:avLst>
              <a:gd name="adj" fmla="val 10000"/>
            </a:avLst>
          </a:prstGeom>
          <a:solidFill>
            <a:srgbClr val="EAF0F8"/>
          </a:solidFill>
          <a:ln w="12700">
            <a:solidFill>
              <a:srgbClr val="1F3864"/>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2400" b="1">
                <a:solidFill>
                  <a:srgbClr val="1F3864"/>
                </a:solidFill>
                <a:latin typeface="Calibri" panose="020F0502020204030204" pitchFamily="34" charset="0"/>
              </a:rPr>
              <a:t>Can multimodal LLMs transcribe historical handwriting out of the box - without fine-tuning or pre-processing - matching or beating specialized HTR?</a:t>
            </a:r>
            <a:endParaRPr lang="zh-CN" altLang="en-US" sz="2400" b="1">
              <a:solidFill>
                <a:srgbClr val="1F3864"/>
              </a:solidFill>
              <a:latin typeface="Calibri" panose="020F0502020204030204" pitchFamily="34" charset="0"/>
            </a:endParaRPr>
          </a:p>
        </p:txBody>
      </p:sp>
      <p:sp>
        <p:nvSpPr>
          <p:cNvPr id="9" name="矩形: 圆角 8">
            <a:extLst>
              <a:ext uri="{FF2B5EF4-FFF2-40B4-BE49-F238E27FC236}">
                <a16:creationId xmlns:a16="http://schemas.microsoft.com/office/drawing/2014/main" id="{4A6ACD01-C123-09D6-943A-B020A21A596F}"/>
              </a:ext>
            </a:extLst>
          </p:cNvPr>
          <p:cNvSpPr/>
          <p:nvPr/>
        </p:nvSpPr>
        <p:spPr>
          <a:xfrm>
            <a:off x="889000" y="4826000"/>
            <a:ext cx="10414000" cy="889000"/>
          </a:xfrm>
          <a:prstGeom prst="roundRect">
            <a:avLst>
              <a:gd name="adj" fmla="val 10000"/>
            </a:avLst>
          </a:prstGeom>
          <a:solidFill>
            <a:srgbClr val="FFFFFF"/>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700">
                <a:solidFill>
                  <a:srgbClr val="404040"/>
                </a:solidFill>
                <a:latin typeface="Calibri" panose="020F0502020204030204" pitchFamily="34" charset="0"/>
              </a:rPr>
              <a:t>Sub-question: can they also CORRECT transcriptions, from themselves and from HTR software?</a:t>
            </a:r>
            <a:endParaRPr lang="zh-CN" altLang="en-US" sz="1700">
              <a:solidFill>
                <a:srgbClr val="404040"/>
              </a:solidFill>
              <a:latin typeface="Calibri" panose="020F0502020204030204" pitchFamily="34" charset="0"/>
            </a:endParaRPr>
          </a:p>
        </p:txBody>
      </p:sp>
    </p:spTree>
    <p:extLst>
      <p:ext uri="{BB962C8B-B14F-4D97-AF65-F5344CB8AC3E}">
        <p14:creationId xmlns:p14="http://schemas.microsoft.com/office/powerpoint/2010/main" val="391758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B34F6BB-ABEB-2A21-6ACF-0C24487C76A6}"/>
              </a:ext>
            </a:extLst>
          </p:cNvPr>
          <p:cNvSpPr/>
          <p:nvPr/>
        </p:nvSpPr>
        <p:spPr>
          <a:xfrm>
            <a:off x="0" y="0"/>
            <a:ext cx="12192000" cy="1016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0EB1DA6-6FA0-F75B-73C3-4D3C6B3A12CF}"/>
              </a:ext>
            </a:extLst>
          </p:cNvPr>
          <p:cNvSpPr txBox="1"/>
          <p:nvPr/>
        </p:nvSpPr>
        <p:spPr>
          <a:xfrm>
            <a:off x="762000" y="508000"/>
            <a:ext cx="8890000" cy="184666"/>
          </a:xfrm>
          <a:prstGeom prst="rect">
            <a:avLst/>
          </a:prstGeom>
          <a:noFill/>
        </p:spPr>
        <p:txBody>
          <a:bodyPr vert="horz" wrap="square" lIns="0" tIns="0" rIns="0" bIns="0" rtlCol="0">
            <a:spAutoFit/>
          </a:bodyPr>
          <a:lstStyle/>
          <a:p>
            <a:r>
              <a:rPr lang="en-US" altLang="zh-CN" sz="1200" b="1">
                <a:solidFill>
                  <a:srgbClr val="1F3864"/>
                </a:solidFill>
                <a:latin typeface="Calibri" panose="020F0502020204030204" pitchFamily="34" charset="0"/>
              </a:rPr>
              <a:t>The Answer, In Advance</a:t>
            </a:r>
            <a:endParaRPr lang="zh-CN" altLang="en-US" sz="1200" b="1">
              <a:solidFill>
                <a:srgbClr val="1F3864"/>
              </a:solidFill>
              <a:latin typeface="Calibri" panose="020F0502020204030204" pitchFamily="34" charset="0"/>
            </a:endParaRPr>
          </a:p>
        </p:txBody>
      </p:sp>
      <p:sp>
        <p:nvSpPr>
          <p:cNvPr id="4" name="文本框 3">
            <a:extLst>
              <a:ext uri="{FF2B5EF4-FFF2-40B4-BE49-F238E27FC236}">
                <a16:creationId xmlns:a16="http://schemas.microsoft.com/office/drawing/2014/main" id="{740559BD-7545-5D28-17A0-F18FC4BBD7AA}"/>
              </a:ext>
            </a:extLst>
          </p:cNvPr>
          <p:cNvSpPr txBox="1"/>
          <p:nvPr/>
        </p:nvSpPr>
        <p:spPr>
          <a:xfrm>
            <a:off x="736600" y="812800"/>
            <a:ext cx="10718800" cy="461665"/>
          </a:xfrm>
          <a:prstGeom prst="rect">
            <a:avLst/>
          </a:prstGeom>
          <a:noFill/>
        </p:spPr>
        <p:txBody>
          <a:bodyPr vert="horz" wrap="square" lIns="0" tIns="0" rIns="0" bIns="0" rtlCol="0">
            <a:spAutoFit/>
          </a:bodyPr>
          <a:lstStyle/>
          <a:p>
            <a:r>
              <a:rPr lang="en-US" altLang="zh-CN" sz="3000" b="1">
                <a:solidFill>
                  <a:srgbClr val="1F3864"/>
                </a:solidFill>
                <a:latin typeface="Calibri" panose="020F0502020204030204" pitchFamily="34" charset="0"/>
              </a:rPr>
              <a:t>Three Contributions</a:t>
            </a:r>
            <a:endParaRPr lang="zh-CN" altLang="en-US" sz="3000" b="1">
              <a:solidFill>
                <a:srgbClr val="1F3864"/>
              </a:solidFill>
              <a:latin typeface="Calibri" panose="020F0502020204030204" pitchFamily="34" charset="0"/>
            </a:endParaRPr>
          </a:p>
        </p:txBody>
      </p:sp>
      <p:sp>
        <p:nvSpPr>
          <p:cNvPr id="5" name="矩形 4">
            <a:extLst>
              <a:ext uri="{FF2B5EF4-FFF2-40B4-BE49-F238E27FC236}">
                <a16:creationId xmlns:a16="http://schemas.microsoft.com/office/drawing/2014/main" id="{648E12D9-2F7C-4DA6-2427-AFFD8A1C9E83}"/>
              </a:ext>
            </a:extLst>
          </p:cNvPr>
          <p:cNvSpPr/>
          <p:nvPr/>
        </p:nvSpPr>
        <p:spPr>
          <a:xfrm>
            <a:off x="762000" y="1549400"/>
            <a:ext cx="1397000" cy="381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825BC2BA-B1C7-3C28-140D-6B36EC2F73E3}"/>
              </a:ext>
            </a:extLst>
          </p:cNvPr>
          <p:cNvSpPr txBox="1"/>
          <p:nvPr/>
        </p:nvSpPr>
        <p:spPr>
          <a:xfrm>
            <a:off x="762000" y="6426200"/>
            <a:ext cx="8128000" cy="153888"/>
          </a:xfrm>
          <a:prstGeom prst="rect">
            <a:avLst/>
          </a:prstGeom>
          <a:noFill/>
        </p:spPr>
        <p:txBody>
          <a:bodyPr vert="horz" wrap="square" lIns="0" tIns="0" rIns="0" bIns="0" rtlCol="0">
            <a:spAutoFit/>
          </a:bodyPr>
          <a:lstStyle/>
          <a:p>
            <a:r>
              <a:rPr lang="en-US" altLang="zh-CN" sz="1000">
                <a:solidFill>
                  <a:srgbClr val="595959"/>
                </a:solidFill>
                <a:latin typeface="Calibri" panose="020F0502020204030204" pitchFamily="34" charset="0"/>
              </a:rPr>
              <a:t>DHG 502  |  Digital Approaches in Historical Research  |  Week 6  |  Part 1</a:t>
            </a:r>
            <a:endParaRPr lang="zh-CN" altLang="en-US" sz="1000">
              <a:solidFill>
                <a:srgbClr val="595959"/>
              </a:solidFill>
              <a:latin typeface="Calibri" panose="020F0502020204030204" pitchFamily="34" charset="0"/>
            </a:endParaRPr>
          </a:p>
        </p:txBody>
      </p:sp>
      <p:sp>
        <p:nvSpPr>
          <p:cNvPr id="7" name="文本框 6">
            <a:extLst>
              <a:ext uri="{FF2B5EF4-FFF2-40B4-BE49-F238E27FC236}">
                <a16:creationId xmlns:a16="http://schemas.microsoft.com/office/drawing/2014/main" id="{4AD73666-4E68-7C26-9202-19267A44E3A6}"/>
              </a:ext>
            </a:extLst>
          </p:cNvPr>
          <p:cNvSpPr txBox="1"/>
          <p:nvPr/>
        </p:nvSpPr>
        <p:spPr>
          <a:xfrm>
            <a:off x="10922000" y="6426200"/>
            <a:ext cx="508000" cy="153888"/>
          </a:xfrm>
          <a:prstGeom prst="rect">
            <a:avLst/>
          </a:prstGeom>
          <a:noFill/>
        </p:spPr>
        <p:txBody>
          <a:bodyPr vert="horz" wrap="square" lIns="0" tIns="0" rIns="0" bIns="0" rtlCol="0">
            <a:spAutoFit/>
          </a:bodyPr>
          <a:lstStyle/>
          <a:p>
            <a:pPr algn="r"/>
            <a:r>
              <a:rPr lang="en-US" altLang="zh-CN" sz="1000">
                <a:solidFill>
                  <a:srgbClr val="595959"/>
                </a:solidFill>
                <a:latin typeface="Calibri" panose="020F0502020204030204" pitchFamily="34" charset="0"/>
              </a:rPr>
              <a:t>7</a:t>
            </a:r>
            <a:endParaRPr lang="zh-CN" altLang="en-US" sz="1000">
              <a:solidFill>
                <a:srgbClr val="595959"/>
              </a:solidFill>
              <a:latin typeface="Calibri" panose="020F0502020204030204" pitchFamily="34" charset="0"/>
            </a:endParaRPr>
          </a:p>
        </p:txBody>
      </p:sp>
      <p:sp>
        <p:nvSpPr>
          <p:cNvPr id="8" name="矩形: 圆角 7">
            <a:extLst>
              <a:ext uri="{FF2B5EF4-FFF2-40B4-BE49-F238E27FC236}">
                <a16:creationId xmlns:a16="http://schemas.microsoft.com/office/drawing/2014/main" id="{2D21E412-E565-7649-C53E-3F4D9A4EE925}"/>
              </a:ext>
            </a:extLst>
          </p:cNvPr>
          <p:cNvSpPr/>
          <p:nvPr/>
        </p:nvSpPr>
        <p:spPr>
          <a:xfrm>
            <a:off x="762000" y="2095500"/>
            <a:ext cx="10668000" cy="9906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700">
                <a:solidFill>
                  <a:srgbClr val="404040"/>
                </a:solidFill>
                <a:latin typeface="Calibri" panose="020F0502020204030204" pitchFamily="34" charset="0"/>
              </a:rPr>
              <a:t>1)  Transcription Pearl - open-source, API-based batch transcription and correction</a:t>
            </a:r>
            <a:endParaRPr lang="zh-CN" altLang="en-US" sz="1700">
              <a:solidFill>
                <a:srgbClr val="404040"/>
              </a:solidFill>
              <a:latin typeface="Calibri" panose="020F0502020204030204" pitchFamily="34" charset="0"/>
            </a:endParaRPr>
          </a:p>
        </p:txBody>
      </p:sp>
      <p:sp>
        <p:nvSpPr>
          <p:cNvPr id="9" name="矩形: 圆角 8">
            <a:extLst>
              <a:ext uri="{FF2B5EF4-FFF2-40B4-BE49-F238E27FC236}">
                <a16:creationId xmlns:a16="http://schemas.microsoft.com/office/drawing/2014/main" id="{EC0C4799-AFD0-9282-CF4B-BED2BC72876F}"/>
              </a:ext>
            </a:extLst>
          </p:cNvPr>
          <p:cNvSpPr/>
          <p:nvPr/>
        </p:nvSpPr>
        <p:spPr>
          <a:xfrm>
            <a:off x="762000" y="3238500"/>
            <a:ext cx="10668000" cy="9906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700">
                <a:solidFill>
                  <a:srgbClr val="404040"/>
                </a:solidFill>
                <a:latin typeface="Calibri" panose="020F0502020204030204" pitchFamily="34" charset="0"/>
              </a:rPr>
              <a:t>2)  A real-world test set - 50 pages | 9,911 words | 33 hands | 18th-19th c. English</a:t>
            </a:r>
            <a:endParaRPr lang="zh-CN" altLang="en-US" sz="1700">
              <a:solidFill>
                <a:srgbClr val="404040"/>
              </a:solidFill>
              <a:latin typeface="Calibri" panose="020F0502020204030204" pitchFamily="34" charset="0"/>
            </a:endParaRPr>
          </a:p>
        </p:txBody>
      </p:sp>
      <p:sp>
        <p:nvSpPr>
          <p:cNvPr id="10" name="矩形: 圆角 9">
            <a:extLst>
              <a:ext uri="{FF2B5EF4-FFF2-40B4-BE49-F238E27FC236}">
                <a16:creationId xmlns:a16="http://schemas.microsoft.com/office/drawing/2014/main" id="{7DF97F06-19F0-BB7F-B93C-10F86A586BFA}"/>
              </a:ext>
            </a:extLst>
          </p:cNvPr>
          <p:cNvSpPr/>
          <p:nvPr/>
        </p:nvSpPr>
        <p:spPr>
          <a:xfrm>
            <a:off x="762000" y="4381500"/>
            <a:ext cx="10668000" cy="990600"/>
          </a:xfrm>
          <a:prstGeom prst="roundRect">
            <a:avLst>
              <a:gd name="adj" fmla="val 10000"/>
            </a:avLst>
          </a:prstGeom>
          <a:solidFill>
            <a:srgbClr val="EAF0F8"/>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lIns="127000" tIns="76200" rIns="127000" bIns="76200" rtlCol="0" anchor="ctr"/>
          <a:lstStyle/>
          <a:p>
            <a:pPr algn="ctr"/>
            <a:r>
              <a:rPr lang="en-US" altLang="zh-CN" sz="1700">
                <a:solidFill>
                  <a:srgbClr val="404040"/>
                </a:solidFill>
                <a:latin typeface="Calibri" panose="020F0502020204030204" pitchFamily="34" charset="0"/>
              </a:rPr>
              <a:t>3)  First systematic comparison vs Transkribus - plus heterogeneous-model correction</a:t>
            </a:r>
            <a:endParaRPr lang="zh-CN" altLang="en-US" sz="1700">
              <a:solidFill>
                <a:srgbClr val="404040"/>
              </a:solidFill>
              <a:latin typeface="Calibri" panose="020F0502020204030204" pitchFamily="34" charset="0"/>
            </a:endParaRPr>
          </a:p>
        </p:txBody>
      </p:sp>
      <p:sp>
        <p:nvSpPr>
          <p:cNvPr id="11" name="文本框 10">
            <a:extLst>
              <a:ext uri="{FF2B5EF4-FFF2-40B4-BE49-F238E27FC236}">
                <a16:creationId xmlns:a16="http://schemas.microsoft.com/office/drawing/2014/main" id="{9BB4F552-C3CA-1677-4F27-E8DE50920DFF}"/>
              </a:ext>
            </a:extLst>
          </p:cNvPr>
          <p:cNvSpPr txBox="1"/>
          <p:nvPr/>
        </p:nvSpPr>
        <p:spPr>
          <a:xfrm>
            <a:off x="762000" y="5740400"/>
            <a:ext cx="10668000" cy="261610"/>
          </a:xfrm>
          <a:prstGeom prst="rect">
            <a:avLst/>
          </a:prstGeom>
          <a:noFill/>
        </p:spPr>
        <p:txBody>
          <a:bodyPr vert="horz" wrap="square" lIns="0" tIns="0" rIns="0" bIns="0" rtlCol="0">
            <a:spAutoFit/>
          </a:bodyPr>
          <a:lstStyle/>
          <a:p>
            <a:pPr algn="ctr"/>
            <a:r>
              <a:rPr lang="en-US" altLang="zh-CN" sz="1700" b="1">
                <a:solidFill>
                  <a:srgbClr val="1F3864"/>
                </a:solidFill>
                <a:latin typeface="Calibri" panose="020F0502020204030204" pitchFamily="34" charset="0"/>
              </a:rPr>
              <a:t>No fine-tuning. No pre-processing. Fifty times faster and cheaper.</a:t>
            </a:r>
            <a:endParaRPr lang="zh-CN" altLang="en-US" sz="1700" b="1">
              <a:solidFill>
                <a:srgbClr val="1F3864"/>
              </a:solidFill>
              <a:latin typeface="Calibri" panose="020F0502020204030204" pitchFamily="34" charset="0"/>
            </a:endParaRPr>
          </a:p>
        </p:txBody>
      </p:sp>
    </p:spTree>
    <p:extLst>
      <p:ext uri="{BB962C8B-B14F-4D97-AF65-F5344CB8AC3E}">
        <p14:creationId xmlns:p14="http://schemas.microsoft.com/office/powerpoint/2010/main" val="1390896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2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TotalTime>
  <Words>1199</Words>
  <Application>Microsoft Office PowerPoint</Application>
  <PresentationFormat>宽屏</PresentationFormat>
  <Paragraphs>84</Paragraphs>
  <Slides>7</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7</vt:i4>
      </vt:variant>
    </vt:vector>
  </HeadingPairs>
  <TitlesOfParts>
    <vt:vector size="12" baseType="lpstr">
      <vt:lpstr>等线</vt:lpstr>
      <vt:lpstr>等线 Light</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chenyang liu</dc:creator>
  <cp:lastModifiedBy>chenyang liu</cp:lastModifiedBy>
  <cp:revision>3</cp:revision>
  <dcterms:created xsi:type="dcterms:W3CDTF">2026-10-09T07:53:55Z</dcterms:created>
  <dcterms:modified xsi:type="dcterms:W3CDTF">2026-10-09T13:32:22Z</dcterms:modified>
</cp:coreProperties>
</file>